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1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</a:t>
            </a: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edit Master </a:t>
            </a: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CD9BBB-227E-48CB-8917-1472C5E3C0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7" descr="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135F3E-A5B2-4B77-A4CB-C013AC8FB9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1543680"/>
            <a:ext cx="2628720" cy="463320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ic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k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o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di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M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a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st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r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ti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tl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st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yl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543680"/>
            <a:ext cx="7733880" cy="463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D2BDDC-0911-4233-B7EE-659CD48121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sldNum" idx="1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FD75A8E-3022-4C95-8232-51A89C27745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CD0822-5A2B-42B3-9C27-AC42A3AD9A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93BAAF-69F3-4D08-A34B-040D27B679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1FD2B9-CA87-4CCC-A988-427589D6DE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2AC98F-E3AF-45DB-B8A0-97F03F68A1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F4729F-FB59-4833-AF18-B28A5A4852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2D79549-EB10-44BD-AF92-04D7ED3DE81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5183280" y="2057400"/>
            <a:ext cx="6171840" cy="380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9B85D14-F914-4A9F-A04F-12D0AFF471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body"/>
          </p:nvPr>
        </p:nvSpPr>
        <p:spPr>
          <a:xfrm>
            <a:off x="5183280" y="2049480"/>
            <a:ext cx="617184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40F923-9A32-48A0-BE04-8327461774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Mehrdadghassabi/Gaokerena-R" TargetMode="External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64520" y="3201120"/>
            <a:ext cx="11344320" cy="80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Enhancing Reasoning Skills in Small Persian Medical Language Models Can Outperform Large Scale Data Training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4132440"/>
            <a:ext cx="914364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Mehrdad Ghassabi, Zahra Kazemi, et al.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838080" y="15879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Motivation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Medical question answering requires deliberate, multi-step reasoning, yet most small language models struggle with such “slow thinking,” especially in low-resource languages like Persian.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Medical QA requires multi-step reasoning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Small LLMs struggle with “slow thinking”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Persian medical data is extremely limited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Data scaling and RLHF are costly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838080" y="2209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We introduce a reasoning-centered training framework based on RLAIF and DPO, develop gaokerena-R as an 8B Persian medical reasoning model.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final dataset contains over 18,000 verified Persian medical questions and 11,000 reasoning preference pairs, evaluated on FA_MED_MMLU and IBMSEE benchmarks.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838080" y="4120200"/>
            <a:ext cx="673452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11K reasoning preference pairs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18K verified Persian medical MCQs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Benchmarks: FA_MED_MMLU, IBMSEE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Models: gaokerena-R, gaokerena-V, aya-expanse-8b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Content Placeholder 2"/>
          <p:cNvSpPr/>
          <p:nvPr/>
        </p:nvSpPr>
        <p:spPr>
          <a:xfrm>
            <a:off x="3387960" y="1532880"/>
            <a:ext cx="54158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Proposed Method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5" descr="A diagram of a question&#10;&#10;AI-generated content may be incorrect."/>
          <p:cNvPicPr/>
          <p:nvPr/>
        </p:nvPicPr>
        <p:blipFill>
          <a:blip r:embed="rId1"/>
          <a:stretch/>
        </p:blipFill>
        <p:spPr>
          <a:xfrm>
            <a:off x="1045440" y="1754280"/>
            <a:ext cx="4770720" cy="372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" descr="A diagram of a student&#10;&#10;AI-generated content may be incorrect."/>
          <p:cNvPicPr/>
          <p:nvPr/>
        </p:nvPicPr>
        <p:blipFill>
          <a:blip r:embed="rId2"/>
          <a:stretch/>
        </p:blipFill>
        <p:spPr>
          <a:xfrm>
            <a:off x="6631560" y="2331000"/>
            <a:ext cx="4755240" cy="315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1"/>
          <p:cNvSpPr/>
          <p:nvPr/>
        </p:nvSpPr>
        <p:spPr>
          <a:xfrm>
            <a:off x="1045440" y="5481360"/>
            <a:ext cx="43160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Method 1.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Teacher Correction for Reasoning Alignment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631560" y="5481360"/>
            <a:ext cx="31579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Method 2.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Teacher-Guided Self-Correction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RLAIF + DPO Optimization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Reinforcement Learning with AI Feedback (RLAIF) is used to generate high-quality reasoning preference pairs without human annotation.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Direct Preference Optimization aligns the student model by increasing the likelihood of valid reasoning paths and suppressing flawed ones, without requiring an explicit reward model.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4" descr=""/>
          <p:cNvPicPr/>
          <p:nvPr/>
        </p:nvPicPr>
        <p:blipFill>
          <a:blip r:embed="rId1"/>
          <a:stretch/>
        </p:blipFill>
        <p:spPr>
          <a:xfrm>
            <a:off x="6291000" y="4248720"/>
            <a:ext cx="4109400" cy="209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609480" y="2736360"/>
            <a:ext cx="5178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Pass@K measures the probability that a model produces at least one correct answer within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K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independent attempts.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High Pass@K values, especially for small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K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, indicate stable and non-random reasoning behavior.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4" descr=""/>
          <p:cNvPicPr/>
          <p:nvPr/>
        </p:nvPicPr>
        <p:blipFill>
          <a:blip r:embed="rId1"/>
          <a:stretch/>
        </p:blipFill>
        <p:spPr>
          <a:xfrm>
            <a:off x="6095880" y="2432160"/>
            <a:ext cx="548604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5"/>
          <p:cNvSpPr/>
          <p:nvPr/>
        </p:nvSpPr>
        <p:spPr>
          <a:xfrm>
            <a:off x="3083040" y="1536120"/>
            <a:ext cx="571788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Evaluation Metric: Pass@K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6404040" y="5861160"/>
            <a:ext cx="43761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Pass@k results on the IBMSEE (September 2023)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dataset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using Chain-of-Thought prompting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Results: Reasoning Ability (Chain-of-Thought)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We evaluate reasoning performance using Chain-of-Thought prompting on medical benchmarks.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These results confirm that reasoning-focused optimization is more effective than data scaling for small, low-resource models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5" name="Table 1"/>
          <p:cNvGraphicFramePr/>
          <p:nvPr/>
        </p:nvGraphicFramePr>
        <p:xfrm>
          <a:off x="2551320" y="4221720"/>
          <a:ext cx="7323840" cy="1947600"/>
        </p:xfrm>
        <a:graphic>
          <a:graphicData uri="http://schemas.openxmlformats.org/drawingml/2006/table">
            <a:tbl>
              <a:tblPr/>
              <a:tblGrid>
                <a:gridCol w="1851480"/>
                <a:gridCol w="1851480"/>
                <a:gridCol w="1796400"/>
                <a:gridCol w="1824120"/>
              </a:tblGrid>
              <a:tr h="5439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b="0" lang="en-US" sz="16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gaokerena-R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gaokerena-V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Aya-expanse-8b </a:t>
                      </a: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(baseline)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3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MMLU- medical-genetics(fa)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50.0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41.0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45.0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3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MMLU(avg)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48.76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40.40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47.10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IBMSEE Sept2023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 38.69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29.76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35.71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TextBox 3"/>
          <p:cNvSpPr/>
          <p:nvPr/>
        </p:nvSpPr>
        <p:spPr>
          <a:xfrm>
            <a:off x="2715120" y="6324840"/>
            <a:ext cx="69962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From table 1.Chain-of-Thought Prompted Performance Without Negative Marking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Results: Medical Knowledge &amp; Prompt Dependenc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gaokerena-V excels with direct prompts, while gaokerena-R performs best with CoT prompts.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8" name="Table 4"/>
          <p:cNvGraphicFramePr/>
          <p:nvPr/>
        </p:nvGraphicFramePr>
        <p:xfrm>
          <a:off x="2432160" y="3745440"/>
          <a:ext cx="7327440" cy="1921320"/>
        </p:xfrm>
        <a:graphic>
          <a:graphicData uri="http://schemas.openxmlformats.org/drawingml/2006/table">
            <a:tbl>
              <a:tblPr/>
              <a:tblGrid>
                <a:gridCol w="1851480"/>
                <a:gridCol w="1851480"/>
                <a:gridCol w="1797840"/>
                <a:gridCol w="1826280"/>
              </a:tblGrid>
              <a:tr h="5439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gaokerena-R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gaokerena-V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Aya-expanse-8b </a:t>
                      </a: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(baseline)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3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MMLU- medical-genetics(fa)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49.0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53.0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49.0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MMLU(avg)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46.28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49.31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46.64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IBMSEE Sept2023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35.11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38.69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34.52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" name="TextBox 7"/>
          <p:cNvSpPr/>
          <p:nvPr/>
        </p:nvSpPr>
        <p:spPr>
          <a:xfrm>
            <a:off x="4046760" y="5856480"/>
            <a:ext cx="409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From table III. Straight Prompted Performance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838080" y="1645920"/>
            <a:ext cx="1051524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Overall Performance: Hybrid Setup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We propose a hybrid configuration combining gaokerena-R’s reasoning ability with a knowledge-based verifier that verifies uncertain cases.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hybrid approach achieves the best overall performance, outperforming gaokerena-V under direct prompting.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1" name="Table 5"/>
          <p:cNvGraphicFramePr/>
          <p:nvPr/>
        </p:nvGraphicFramePr>
        <p:xfrm>
          <a:off x="2459520" y="3911400"/>
          <a:ext cx="6976800" cy="2556720"/>
        </p:xfrm>
        <a:graphic>
          <a:graphicData uri="http://schemas.openxmlformats.org/drawingml/2006/table">
            <a:tbl>
              <a:tblPr/>
              <a:tblGrid>
                <a:gridCol w="2348280"/>
                <a:gridCol w="2881800"/>
                <a:gridCol w="1746360"/>
              </a:tblGrid>
              <a:tr h="5439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gaokerena-R+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Aya-expanse-8b </a:t>
                      </a: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(verifier)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gaokerena-V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3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MMLU- medical-genetics(fa)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56.0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53.0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3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MMLU(avg)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58.86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55.47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IBMSEE Sept2023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52.98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49.31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prompt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COT for the main model 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Straight for the verifier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Straight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Box 6"/>
          <p:cNvSpPr/>
          <p:nvPr/>
        </p:nvSpPr>
        <p:spPr>
          <a:xfrm>
            <a:off x="4087440" y="6502320"/>
            <a:ext cx="43135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From table IV. Evaluation of two different configurations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 &amp; Future Work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Our results show that targeted reasoning optimization can outperform data scaling in low-resource medical NLP.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proposed RLAIF + DPO framework is efficient, cost-effective, and environmentally sustainable.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Future work will focus on building prompt-invariant medical language models that unify strong knowledge and stable reasoning.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Thanks for your Attention!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"/>
          <p:cNvSpPr/>
          <p:nvPr/>
        </p:nvSpPr>
        <p:spPr>
          <a:xfrm>
            <a:off x="3545640" y="2999160"/>
            <a:ext cx="5094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Our data will be available at: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  <a:hlinkClick r:id="rId1"/>
              </a:rPr>
              <a:t>https://github.com/Mehrdadghassabi/Gaokerena-R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Application>LibreOffice/25.8.1.1$Linux_X86_64 LibreOffice_project/580$Build-1</Application>
  <AppVersion>15.0000</AppVersion>
  <Words>568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2025-11-26T05:54:21Z</dcterms:created>
  <dc:creator>Taha Tabari</dc:creator>
  <dc:description/>
  <dc:language>en-US</dc:language>
  <cp:lastModifiedBy/>
  <dcterms:modified xsi:type="dcterms:W3CDTF">2025-12-19T22:41:55Z</dcterms:modified>
  <cp:revision>16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