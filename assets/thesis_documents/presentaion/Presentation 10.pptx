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72" r:id="rId9"/>
    <p:sldId id="263" r:id="rId10"/>
    <p:sldId id="273" r:id="rId11"/>
    <p:sldId id="264" r:id="rId12"/>
    <p:sldId id="265" r:id="rId13"/>
    <p:sldId id="266" r:id="rId14"/>
    <p:sldId id="274" r:id="rId15"/>
    <p:sldId id="267" r:id="rId16"/>
    <p:sldId id="268" r:id="rId17"/>
    <p:sldId id="277" r:id="rId18"/>
    <p:sldId id="269" r:id="rId19"/>
    <p:sldId id="270" r:id="rId20"/>
    <p:sldId id="278" r:id="rId21"/>
  </p:sldIdLst>
  <p:sldSz cx="12192000" cy="6858000"/>
  <p:notesSz cx="6858000" cy="9144000"/>
  <p:defaultTextStyle>
    <a:defPPr>
      <a:defRPr lang="fa-IR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6BE027-8260-473A-BF9C-E030DD8F84A2}" v="1867" dt="2026-02-09T16:13:35.650"/>
    <p1510:client id="{CF97773A-A384-46F4-A134-301D1FF04E92}" v="938" dt="2026-02-09T16:54:31.8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سبک متوسط 2 - آکسان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4F0833-8169-46DB-94D3-8A1D1B219039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A31C7DB-A8D3-4FE3-AC09-88F7C20699D6}">
      <dgm:prSet/>
      <dgm:spPr/>
      <dgm:t>
        <a:bodyPr/>
        <a:lstStyle/>
        <a:p>
          <a:r>
            <a:rPr lang="fa-IR" dirty="0" err="1"/>
            <a:t>Medical</a:t>
          </a:r>
          <a:r>
            <a:rPr lang="fa-IR" dirty="0"/>
            <a:t> </a:t>
          </a:r>
          <a:r>
            <a:rPr lang="fa-IR" dirty="0" err="1"/>
            <a:t>Corpus</a:t>
          </a:r>
          <a:r>
            <a:rPr lang="fa-IR" dirty="0"/>
            <a:t> </a:t>
          </a:r>
          <a:r>
            <a:rPr lang="fa-IR" dirty="0">
              <a:latin typeface="Neue Haas Grotesk Text Pro"/>
            </a:rPr>
            <a:t>100k</a:t>
          </a:r>
          <a:r>
            <a:rPr lang="fa-IR" dirty="0"/>
            <a:t> </a:t>
          </a:r>
          <a:r>
            <a:rPr lang="fa-IR" dirty="0" err="1">
              <a:latin typeface="Neue Haas Grotesk Text Pro"/>
            </a:rPr>
            <a:t>articles</a:t>
          </a:r>
          <a:r>
            <a:rPr lang="fa-IR" dirty="0"/>
            <a:t> 90M </a:t>
          </a:r>
          <a:r>
            <a:rPr lang="fa-IR" dirty="0" err="1"/>
            <a:t>tokens</a:t>
          </a:r>
          <a:endParaRPr lang="en-US" dirty="0" err="1"/>
        </a:p>
      </dgm:t>
    </dgm:pt>
    <dgm:pt modelId="{596598CD-5E09-4227-8EFB-E076C5EFC1A2}" type="parTrans" cxnId="{631D3C94-10AE-4A39-8A79-85B66805EA3C}">
      <dgm:prSet/>
      <dgm:spPr/>
      <dgm:t>
        <a:bodyPr/>
        <a:lstStyle/>
        <a:p>
          <a:endParaRPr lang="en-US"/>
        </a:p>
      </dgm:t>
    </dgm:pt>
    <dgm:pt modelId="{FB83147B-9704-4043-8702-B6BF087766EB}" type="sibTrans" cxnId="{631D3C94-10AE-4A39-8A79-85B66805EA3C}">
      <dgm:prSet/>
      <dgm:spPr/>
      <dgm:t>
        <a:bodyPr/>
        <a:lstStyle/>
        <a:p>
          <a:endParaRPr lang="en-US"/>
        </a:p>
      </dgm:t>
    </dgm:pt>
    <dgm:pt modelId="{5196F35F-7CD7-4AC0-8927-E0C8CE046282}">
      <dgm:prSet phldr="0" custT="1"/>
      <dgm:spPr/>
      <dgm:t>
        <a:bodyPr/>
        <a:lstStyle/>
        <a:p>
          <a:pPr rtl="0"/>
          <a:r>
            <a:rPr lang="fa-IR" sz="1300" dirty="0" err="1">
              <a:latin typeface="Neue Haas Grotesk Text Pro"/>
            </a:rPr>
            <a:t>Multiple</a:t>
          </a:r>
          <a:r>
            <a:rPr lang="fa-IR" sz="1300" dirty="0">
              <a:latin typeface="Neue Haas Grotesk Text Pro"/>
            </a:rPr>
            <a:t> </a:t>
          </a:r>
          <a:r>
            <a:rPr lang="fa-IR" sz="1300" dirty="0" err="1">
              <a:latin typeface="Neue Haas Grotesk Text Pro"/>
            </a:rPr>
            <a:t>Choice</a:t>
          </a:r>
          <a:r>
            <a:rPr lang="fa-IR" sz="1300" dirty="0">
              <a:latin typeface="Neue Haas Grotesk Text Pro"/>
            </a:rPr>
            <a:t> </a:t>
          </a:r>
          <a:r>
            <a:rPr lang="fa-IR" sz="1300" dirty="0" err="1">
              <a:latin typeface="Neue Haas Grotesk Text Pro"/>
            </a:rPr>
            <a:t>Question</a:t>
          </a:r>
          <a:r>
            <a:rPr lang="fa-IR" sz="1300" dirty="0">
              <a:latin typeface="Neue Haas Grotesk Text Pro"/>
            </a:rPr>
            <a:t> </a:t>
          </a:r>
          <a:r>
            <a:rPr lang="fa-IR" sz="1800" dirty="0">
              <a:latin typeface="Neue Haas Grotesk Text Pro"/>
            </a:rPr>
            <a:t>11k </a:t>
          </a:r>
          <a:r>
            <a:rPr lang="fa-IR" sz="1800" dirty="0" err="1">
              <a:latin typeface="Neue Haas Grotesk Text Pro"/>
            </a:rPr>
            <a:t>for</a:t>
          </a:r>
          <a:r>
            <a:rPr lang="fa-IR" sz="1800" dirty="0">
              <a:latin typeface="Neue Haas Grotesk Text Pro"/>
            </a:rPr>
            <a:t> </a:t>
          </a:r>
          <a:r>
            <a:rPr lang="fa-IR" sz="1800" dirty="0" err="1">
              <a:latin typeface="Neue Haas Grotesk Text Pro"/>
            </a:rPr>
            <a:t>train</a:t>
          </a:r>
          <a:r>
            <a:rPr lang="fa-IR" sz="1800" dirty="0">
              <a:latin typeface="Neue Haas Grotesk Text Pro"/>
            </a:rPr>
            <a:t>           1.7k </a:t>
          </a:r>
          <a:r>
            <a:rPr lang="fa-IR" sz="1800" dirty="0" err="1">
              <a:latin typeface="Neue Haas Grotesk Text Pro"/>
            </a:rPr>
            <a:t>for</a:t>
          </a:r>
          <a:r>
            <a:rPr lang="fa-IR" sz="1800" dirty="0">
              <a:latin typeface="Neue Haas Grotesk Text Pro"/>
            </a:rPr>
            <a:t> </a:t>
          </a:r>
          <a:r>
            <a:rPr lang="fa-IR" sz="1800" dirty="0" err="1">
              <a:latin typeface="Neue Haas Grotesk Text Pro"/>
            </a:rPr>
            <a:t>dev</a:t>
          </a:r>
          <a:r>
            <a:rPr lang="fa-IR" sz="1800" dirty="0">
              <a:latin typeface="Neue Haas Grotesk Text Pro"/>
            </a:rPr>
            <a:t>           1.3k </a:t>
          </a:r>
          <a:r>
            <a:rPr lang="fa-IR" sz="1800" dirty="0" err="1">
              <a:latin typeface="Neue Haas Grotesk Text Pro"/>
            </a:rPr>
            <a:t>for</a:t>
          </a:r>
          <a:r>
            <a:rPr lang="fa-IR" sz="1800" dirty="0">
              <a:latin typeface="Neue Haas Grotesk Text Pro"/>
            </a:rPr>
            <a:t> </a:t>
          </a:r>
          <a:r>
            <a:rPr lang="fa-IR" sz="1800" dirty="0" err="1">
              <a:latin typeface="Neue Haas Grotesk Text Pro"/>
            </a:rPr>
            <a:t>test</a:t>
          </a:r>
          <a:endParaRPr lang="fa-IR" sz="1800" dirty="0">
            <a:latin typeface="Neue Haas Grotesk Text Pro"/>
          </a:endParaRPr>
        </a:p>
      </dgm:t>
    </dgm:pt>
    <dgm:pt modelId="{673F6D3C-A673-419E-8613-FD4E44571513}" type="parTrans" cxnId="{B23F1E05-3C27-40D3-83EE-ED69CA53DB03}">
      <dgm:prSet/>
      <dgm:spPr/>
      <dgm:t>
        <a:bodyPr/>
        <a:lstStyle/>
        <a:p>
          <a:endParaRPr lang="en-US"/>
        </a:p>
      </dgm:t>
    </dgm:pt>
    <dgm:pt modelId="{F542D1DD-ABD6-466D-ABBA-F86FBEFE2E66}" type="sibTrans" cxnId="{B23F1E05-3C27-40D3-83EE-ED69CA53DB03}">
      <dgm:prSet/>
      <dgm:spPr/>
      <dgm:t>
        <a:bodyPr/>
        <a:lstStyle/>
        <a:p>
          <a:endParaRPr lang="en-US"/>
        </a:p>
      </dgm:t>
    </dgm:pt>
    <dgm:pt modelId="{FA1D03E2-B0B4-401B-81E0-72615069145C}">
      <dgm:prSet custT="1"/>
      <dgm:spPr/>
      <dgm:t>
        <a:bodyPr/>
        <a:lstStyle/>
        <a:p>
          <a:pPr rtl="0"/>
          <a:r>
            <a:rPr lang="fa-IR" sz="1400" dirty="0" err="1"/>
            <a:t>Free</a:t>
          </a:r>
          <a:r>
            <a:rPr lang="fa-IR" sz="1400" dirty="0"/>
            <a:t> </a:t>
          </a:r>
          <a:r>
            <a:rPr lang="fa-IR" sz="1400" dirty="0" err="1"/>
            <a:t>Form</a:t>
          </a:r>
          <a:r>
            <a:rPr lang="fa-IR" sz="1400" dirty="0"/>
            <a:t> </a:t>
          </a:r>
          <a:r>
            <a:rPr lang="fa-IR" sz="1400" dirty="0" err="1"/>
            <a:t>Questions</a:t>
          </a:r>
          <a:r>
            <a:rPr lang="fa-IR" sz="1400" dirty="0">
              <a:latin typeface="Neue Haas Grotesk Text Pro"/>
            </a:rPr>
            <a:t>    186k </a:t>
          </a:r>
          <a:r>
            <a:rPr lang="fa-IR" sz="1400" dirty="0" err="1">
              <a:latin typeface="Neue Haas Grotesk Text Pro"/>
            </a:rPr>
            <a:t>before</a:t>
          </a:r>
          <a:r>
            <a:rPr lang="fa-IR" sz="1400" dirty="0">
              <a:latin typeface="Neue Haas Grotesk Text Pro"/>
            </a:rPr>
            <a:t> </a:t>
          </a:r>
          <a:r>
            <a:rPr lang="fa-IR" sz="1400" dirty="0" err="1">
              <a:latin typeface="Neue Haas Grotesk Text Pro"/>
            </a:rPr>
            <a:t>cleaning</a:t>
          </a:r>
          <a:r>
            <a:rPr lang="fa-IR" sz="1400" dirty="0">
              <a:latin typeface="Neue Haas Grotesk Text Pro"/>
            </a:rPr>
            <a:t>      22k </a:t>
          </a:r>
          <a:r>
            <a:rPr lang="fa-IR" sz="1400" dirty="0" err="1">
              <a:latin typeface="Neue Haas Grotesk Text Pro"/>
            </a:rPr>
            <a:t>train</a:t>
          </a:r>
          <a:r>
            <a:rPr lang="fa-IR" sz="1400" dirty="0">
              <a:latin typeface="Neue Haas Grotesk Text Pro"/>
            </a:rPr>
            <a:t>                          2k </a:t>
          </a:r>
          <a:r>
            <a:rPr lang="fa-IR" sz="1400" dirty="0" err="1">
              <a:latin typeface="Neue Haas Grotesk Text Pro"/>
            </a:rPr>
            <a:t>dev</a:t>
          </a:r>
          <a:r>
            <a:rPr lang="fa-IR" sz="1400" dirty="0">
              <a:latin typeface="Neue Haas Grotesk Text Pro"/>
            </a:rPr>
            <a:t>                              2k </a:t>
          </a:r>
          <a:r>
            <a:rPr lang="fa-IR" sz="1400" dirty="0" err="1">
              <a:latin typeface="Neue Haas Grotesk Text Pro"/>
            </a:rPr>
            <a:t>test</a:t>
          </a:r>
          <a:endParaRPr lang="fa-IR" sz="1400" dirty="0" err="1"/>
        </a:p>
      </dgm:t>
    </dgm:pt>
    <dgm:pt modelId="{C7497F2A-BDA9-489F-9332-0DD5670A95EA}" type="parTrans" cxnId="{0D859FE7-3C51-411E-BE16-1AD87EEB2290}">
      <dgm:prSet/>
      <dgm:spPr/>
      <dgm:t>
        <a:bodyPr/>
        <a:lstStyle/>
        <a:p>
          <a:endParaRPr lang="en-US"/>
        </a:p>
      </dgm:t>
    </dgm:pt>
    <dgm:pt modelId="{32A761B1-8F6B-4F27-A516-9B162A51BBDB}" type="sibTrans" cxnId="{0D859FE7-3C51-411E-BE16-1AD87EEB2290}">
      <dgm:prSet/>
      <dgm:spPr/>
      <dgm:t>
        <a:bodyPr/>
        <a:lstStyle/>
        <a:p>
          <a:endParaRPr lang="en-US"/>
        </a:p>
      </dgm:t>
    </dgm:pt>
    <dgm:pt modelId="{B41C5274-292E-4967-B5D4-1896C4513EBE}" type="pres">
      <dgm:prSet presAssocID="{924F0833-8169-46DB-94D3-8A1D1B219039}" presName="diagram" presStyleCnt="0">
        <dgm:presLayoutVars>
          <dgm:dir/>
          <dgm:resizeHandles val="exact"/>
        </dgm:presLayoutVars>
      </dgm:prSet>
      <dgm:spPr/>
    </dgm:pt>
    <dgm:pt modelId="{07BEFB0D-4C3C-4FEB-9437-442F9AE665F6}" type="pres">
      <dgm:prSet presAssocID="{7A31C7DB-A8D3-4FE3-AC09-88F7C20699D6}" presName="node" presStyleLbl="node1" presStyleIdx="0" presStyleCnt="3">
        <dgm:presLayoutVars>
          <dgm:bulletEnabled val="1"/>
        </dgm:presLayoutVars>
      </dgm:prSet>
      <dgm:spPr/>
    </dgm:pt>
    <dgm:pt modelId="{764581AB-864E-4D99-8175-2F78A38F30F5}" type="pres">
      <dgm:prSet presAssocID="{FB83147B-9704-4043-8702-B6BF087766EB}" presName="sibTrans" presStyleLbl="sibTrans2D1" presStyleIdx="0" presStyleCnt="2"/>
      <dgm:spPr/>
    </dgm:pt>
    <dgm:pt modelId="{10D82A3D-F9D9-4D57-81ED-9DDC1DBAAB77}" type="pres">
      <dgm:prSet presAssocID="{FB83147B-9704-4043-8702-B6BF087766EB}" presName="connectorText" presStyleLbl="sibTrans2D1" presStyleIdx="0" presStyleCnt="2"/>
      <dgm:spPr/>
    </dgm:pt>
    <dgm:pt modelId="{53321494-77F3-46B6-9B82-DCC79DE2FDDF}" type="pres">
      <dgm:prSet presAssocID="{5196F35F-7CD7-4AC0-8927-E0C8CE046282}" presName="node" presStyleLbl="node1" presStyleIdx="1" presStyleCnt="3">
        <dgm:presLayoutVars>
          <dgm:bulletEnabled val="1"/>
        </dgm:presLayoutVars>
      </dgm:prSet>
      <dgm:spPr/>
    </dgm:pt>
    <dgm:pt modelId="{2AC6027D-B714-4DED-8A51-5AEE00580195}" type="pres">
      <dgm:prSet presAssocID="{F542D1DD-ABD6-466D-ABBA-F86FBEFE2E66}" presName="sibTrans" presStyleLbl="sibTrans2D1" presStyleIdx="1" presStyleCnt="2"/>
      <dgm:spPr/>
    </dgm:pt>
    <dgm:pt modelId="{0E17ED43-66F1-426C-9726-08A86FFECCBC}" type="pres">
      <dgm:prSet presAssocID="{F542D1DD-ABD6-466D-ABBA-F86FBEFE2E66}" presName="connectorText" presStyleLbl="sibTrans2D1" presStyleIdx="1" presStyleCnt="2"/>
      <dgm:spPr/>
    </dgm:pt>
    <dgm:pt modelId="{3DA1E698-9454-4815-8BA2-6176AC1C9EF7}" type="pres">
      <dgm:prSet presAssocID="{FA1D03E2-B0B4-401B-81E0-72615069145C}" presName="node" presStyleLbl="node1" presStyleIdx="2" presStyleCnt="3">
        <dgm:presLayoutVars>
          <dgm:bulletEnabled val="1"/>
        </dgm:presLayoutVars>
      </dgm:prSet>
      <dgm:spPr/>
    </dgm:pt>
  </dgm:ptLst>
  <dgm:cxnLst>
    <dgm:cxn modelId="{FA8C0A02-BB9A-4F68-9EAA-48E39A010A5C}" type="presOf" srcId="{F542D1DD-ABD6-466D-ABBA-F86FBEFE2E66}" destId="{2AC6027D-B714-4DED-8A51-5AEE00580195}" srcOrd="0" destOrd="0" presId="urn:microsoft.com/office/officeart/2005/8/layout/process5"/>
    <dgm:cxn modelId="{B23F1E05-3C27-40D3-83EE-ED69CA53DB03}" srcId="{924F0833-8169-46DB-94D3-8A1D1B219039}" destId="{5196F35F-7CD7-4AC0-8927-E0C8CE046282}" srcOrd="1" destOrd="0" parTransId="{673F6D3C-A673-419E-8613-FD4E44571513}" sibTransId="{F542D1DD-ABD6-466D-ABBA-F86FBEFE2E66}"/>
    <dgm:cxn modelId="{6AF46606-615C-4F01-95A7-C97C5DB806EA}" type="presOf" srcId="{FB83147B-9704-4043-8702-B6BF087766EB}" destId="{764581AB-864E-4D99-8175-2F78A38F30F5}" srcOrd="0" destOrd="0" presId="urn:microsoft.com/office/officeart/2005/8/layout/process5"/>
    <dgm:cxn modelId="{0EC62E34-6FFB-46E2-AAD8-D3591301D2EE}" type="presOf" srcId="{7A31C7DB-A8D3-4FE3-AC09-88F7C20699D6}" destId="{07BEFB0D-4C3C-4FEB-9437-442F9AE665F6}" srcOrd="0" destOrd="0" presId="urn:microsoft.com/office/officeart/2005/8/layout/process5"/>
    <dgm:cxn modelId="{9FB7AA68-54D8-4851-B7EB-F61F7977E5F9}" type="presOf" srcId="{5196F35F-7CD7-4AC0-8927-E0C8CE046282}" destId="{53321494-77F3-46B6-9B82-DCC79DE2FDDF}" srcOrd="0" destOrd="0" presId="urn:microsoft.com/office/officeart/2005/8/layout/process5"/>
    <dgm:cxn modelId="{631D3C94-10AE-4A39-8A79-85B66805EA3C}" srcId="{924F0833-8169-46DB-94D3-8A1D1B219039}" destId="{7A31C7DB-A8D3-4FE3-AC09-88F7C20699D6}" srcOrd="0" destOrd="0" parTransId="{596598CD-5E09-4227-8EFB-E076C5EFC1A2}" sibTransId="{FB83147B-9704-4043-8702-B6BF087766EB}"/>
    <dgm:cxn modelId="{A77480A2-8CCD-445F-8E9A-982431B7362B}" type="presOf" srcId="{F542D1DD-ABD6-466D-ABBA-F86FBEFE2E66}" destId="{0E17ED43-66F1-426C-9726-08A86FFECCBC}" srcOrd="1" destOrd="0" presId="urn:microsoft.com/office/officeart/2005/8/layout/process5"/>
    <dgm:cxn modelId="{DB5322C9-8DF1-46C2-AA87-490417960FA3}" type="presOf" srcId="{FB83147B-9704-4043-8702-B6BF087766EB}" destId="{10D82A3D-F9D9-4D57-81ED-9DDC1DBAAB77}" srcOrd="1" destOrd="0" presId="urn:microsoft.com/office/officeart/2005/8/layout/process5"/>
    <dgm:cxn modelId="{0D859FE7-3C51-411E-BE16-1AD87EEB2290}" srcId="{924F0833-8169-46DB-94D3-8A1D1B219039}" destId="{FA1D03E2-B0B4-401B-81E0-72615069145C}" srcOrd="2" destOrd="0" parTransId="{C7497F2A-BDA9-489F-9332-0DD5670A95EA}" sibTransId="{32A761B1-8F6B-4F27-A516-9B162A51BBDB}"/>
    <dgm:cxn modelId="{CCEC67ED-46BA-4C03-813B-23D4B5224548}" type="presOf" srcId="{FA1D03E2-B0B4-401B-81E0-72615069145C}" destId="{3DA1E698-9454-4815-8BA2-6176AC1C9EF7}" srcOrd="0" destOrd="0" presId="urn:microsoft.com/office/officeart/2005/8/layout/process5"/>
    <dgm:cxn modelId="{A2E1E6FC-4FBF-44A0-97A2-40B2D6EFE6D8}" type="presOf" srcId="{924F0833-8169-46DB-94D3-8A1D1B219039}" destId="{B41C5274-292E-4967-B5D4-1896C4513EBE}" srcOrd="0" destOrd="0" presId="urn:microsoft.com/office/officeart/2005/8/layout/process5"/>
    <dgm:cxn modelId="{43C6254A-DF26-430A-B141-25AB6401D3EF}" type="presParOf" srcId="{B41C5274-292E-4967-B5D4-1896C4513EBE}" destId="{07BEFB0D-4C3C-4FEB-9437-442F9AE665F6}" srcOrd="0" destOrd="0" presId="urn:microsoft.com/office/officeart/2005/8/layout/process5"/>
    <dgm:cxn modelId="{922FEDC6-972C-4A2E-8D70-CE60160FF9AC}" type="presParOf" srcId="{B41C5274-292E-4967-B5D4-1896C4513EBE}" destId="{764581AB-864E-4D99-8175-2F78A38F30F5}" srcOrd="1" destOrd="0" presId="urn:microsoft.com/office/officeart/2005/8/layout/process5"/>
    <dgm:cxn modelId="{FF6E2B25-57C9-46BE-A4B3-872E93D2E645}" type="presParOf" srcId="{764581AB-864E-4D99-8175-2F78A38F30F5}" destId="{10D82A3D-F9D9-4D57-81ED-9DDC1DBAAB77}" srcOrd="0" destOrd="0" presId="urn:microsoft.com/office/officeart/2005/8/layout/process5"/>
    <dgm:cxn modelId="{FBB4DF51-5B66-49A2-88B3-090A5075F8FC}" type="presParOf" srcId="{B41C5274-292E-4967-B5D4-1896C4513EBE}" destId="{53321494-77F3-46B6-9B82-DCC79DE2FDDF}" srcOrd="2" destOrd="0" presId="urn:microsoft.com/office/officeart/2005/8/layout/process5"/>
    <dgm:cxn modelId="{575E6EE0-3EAB-4FEB-8C9E-56D79DAB1892}" type="presParOf" srcId="{B41C5274-292E-4967-B5D4-1896C4513EBE}" destId="{2AC6027D-B714-4DED-8A51-5AEE00580195}" srcOrd="3" destOrd="0" presId="urn:microsoft.com/office/officeart/2005/8/layout/process5"/>
    <dgm:cxn modelId="{07205339-DD9B-4FD0-85B8-A4D7CAAA2F9D}" type="presParOf" srcId="{2AC6027D-B714-4DED-8A51-5AEE00580195}" destId="{0E17ED43-66F1-426C-9726-08A86FFECCBC}" srcOrd="0" destOrd="0" presId="urn:microsoft.com/office/officeart/2005/8/layout/process5"/>
    <dgm:cxn modelId="{9BEF51F8-31E6-49C5-A479-114BB5CA0532}" type="presParOf" srcId="{B41C5274-292E-4967-B5D4-1896C4513EBE}" destId="{3DA1E698-9454-4815-8BA2-6176AC1C9EF7}" srcOrd="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BEFB0D-4C3C-4FEB-9437-442F9AE665F6}">
      <dsp:nvSpPr>
        <dsp:cNvPr id="0" name=""/>
        <dsp:cNvSpPr/>
      </dsp:nvSpPr>
      <dsp:spPr>
        <a:xfrm>
          <a:off x="7363" y="813644"/>
          <a:ext cx="2200981" cy="13205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100" kern="1200" dirty="0" err="1"/>
            <a:t>Medical</a:t>
          </a:r>
          <a:r>
            <a:rPr lang="fa-IR" sz="2100" kern="1200" dirty="0"/>
            <a:t> </a:t>
          </a:r>
          <a:r>
            <a:rPr lang="fa-IR" sz="2100" kern="1200" dirty="0" err="1"/>
            <a:t>Corpus</a:t>
          </a:r>
          <a:r>
            <a:rPr lang="fa-IR" sz="2100" kern="1200" dirty="0"/>
            <a:t> </a:t>
          </a:r>
          <a:r>
            <a:rPr lang="fa-IR" sz="2100" kern="1200" dirty="0">
              <a:latin typeface="Neue Haas Grotesk Text Pro"/>
            </a:rPr>
            <a:t>100k</a:t>
          </a:r>
          <a:r>
            <a:rPr lang="fa-IR" sz="2100" kern="1200" dirty="0"/>
            <a:t> </a:t>
          </a:r>
          <a:r>
            <a:rPr lang="fa-IR" sz="2100" kern="1200" dirty="0" err="1">
              <a:latin typeface="Neue Haas Grotesk Text Pro"/>
            </a:rPr>
            <a:t>articles</a:t>
          </a:r>
          <a:r>
            <a:rPr lang="fa-IR" sz="2100" kern="1200" dirty="0"/>
            <a:t> 90M </a:t>
          </a:r>
          <a:r>
            <a:rPr lang="fa-IR" sz="2100" kern="1200" dirty="0" err="1"/>
            <a:t>tokens</a:t>
          </a:r>
          <a:endParaRPr lang="en-US" sz="2100" kern="1200" dirty="0" err="1"/>
        </a:p>
      </dsp:txBody>
      <dsp:txXfrm>
        <a:off x="46042" y="852323"/>
        <a:ext cx="2123623" cy="1243230"/>
      </dsp:txXfrm>
    </dsp:sp>
    <dsp:sp modelId="{764581AB-864E-4D99-8175-2F78A38F30F5}">
      <dsp:nvSpPr>
        <dsp:cNvPr id="0" name=""/>
        <dsp:cNvSpPr/>
      </dsp:nvSpPr>
      <dsp:spPr>
        <a:xfrm>
          <a:off x="2402031" y="1201016"/>
          <a:ext cx="466607" cy="5458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2402031" y="1310185"/>
        <a:ext cx="326625" cy="327505"/>
      </dsp:txXfrm>
    </dsp:sp>
    <dsp:sp modelId="{53321494-77F3-46B6-9B82-DCC79DE2FDDF}">
      <dsp:nvSpPr>
        <dsp:cNvPr id="0" name=""/>
        <dsp:cNvSpPr/>
      </dsp:nvSpPr>
      <dsp:spPr>
        <a:xfrm>
          <a:off x="3088737" y="813644"/>
          <a:ext cx="2200981" cy="13205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300" kern="1200" dirty="0" err="1">
              <a:latin typeface="Neue Haas Grotesk Text Pro"/>
            </a:rPr>
            <a:t>Multiple</a:t>
          </a:r>
          <a:r>
            <a:rPr lang="fa-IR" sz="1300" kern="1200" dirty="0">
              <a:latin typeface="Neue Haas Grotesk Text Pro"/>
            </a:rPr>
            <a:t> </a:t>
          </a:r>
          <a:r>
            <a:rPr lang="fa-IR" sz="1300" kern="1200" dirty="0" err="1">
              <a:latin typeface="Neue Haas Grotesk Text Pro"/>
            </a:rPr>
            <a:t>Choice</a:t>
          </a:r>
          <a:r>
            <a:rPr lang="fa-IR" sz="1300" kern="1200" dirty="0">
              <a:latin typeface="Neue Haas Grotesk Text Pro"/>
            </a:rPr>
            <a:t> </a:t>
          </a:r>
          <a:r>
            <a:rPr lang="fa-IR" sz="1300" kern="1200" dirty="0" err="1">
              <a:latin typeface="Neue Haas Grotesk Text Pro"/>
            </a:rPr>
            <a:t>Question</a:t>
          </a:r>
          <a:r>
            <a:rPr lang="fa-IR" sz="1300" kern="1200" dirty="0">
              <a:latin typeface="Neue Haas Grotesk Text Pro"/>
            </a:rPr>
            <a:t> </a:t>
          </a:r>
          <a:r>
            <a:rPr lang="fa-IR" sz="1800" kern="1200" dirty="0">
              <a:latin typeface="Neue Haas Grotesk Text Pro"/>
            </a:rPr>
            <a:t>11k </a:t>
          </a:r>
          <a:r>
            <a:rPr lang="fa-IR" sz="1800" kern="1200" dirty="0" err="1">
              <a:latin typeface="Neue Haas Grotesk Text Pro"/>
            </a:rPr>
            <a:t>for</a:t>
          </a:r>
          <a:r>
            <a:rPr lang="fa-IR" sz="1800" kern="1200" dirty="0">
              <a:latin typeface="Neue Haas Grotesk Text Pro"/>
            </a:rPr>
            <a:t> </a:t>
          </a:r>
          <a:r>
            <a:rPr lang="fa-IR" sz="1800" kern="1200" dirty="0" err="1">
              <a:latin typeface="Neue Haas Grotesk Text Pro"/>
            </a:rPr>
            <a:t>train</a:t>
          </a:r>
          <a:r>
            <a:rPr lang="fa-IR" sz="1800" kern="1200" dirty="0">
              <a:latin typeface="Neue Haas Grotesk Text Pro"/>
            </a:rPr>
            <a:t>           1.7k </a:t>
          </a:r>
          <a:r>
            <a:rPr lang="fa-IR" sz="1800" kern="1200" dirty="0" err="1">
              <a:latin typeface="Neue Haas Grotesk Text Pro"/>
            </a:rPr>
            <a:t>for</a:t>
          </a:r>
          <a:r>
            <a:rPr lang="fa-IR" sz="1800" kern="1200" dirty="0">
              <a:latin typeface="Neue Haas Grotesk Text Pro"/>
            </a:rPr>
            <a:t> </a:t>
          </a:r>
          <a:r>
            <a:rPr lang="fa-IR" sz="1800" kern="1200" dirty="0" err="1">
              <a:latin typeface="Neue Haas Grotesk Text Pro"/>
            </a:rPr>
            <a:t>dev</a:t>
          </a:r>
          <a:r>
            <a:rPr lang="fa-IR" sz="1800" kern="1200" dirty="0">
              <a:latin typeface="Neue Haas Grotesk Text Pro"/>
            </a:rPr>
            <a:t>           1.3k </a:t>
          </a:r>
          <a:r>
            <a:rPr lang="fa-IR" sz="1800" kern="1200" dirty="0" err="1">
              <a:latin typeface="Neue Haas Grotesk Text Pro"/>
            </a:rPr>
            <a:t>for</a:t>
          </a:r>
          <a:r>
            <a:rPr lang="fa-IR" sz="1800" kern="1200" dirty="0">
              <a:latin typeface="Neue Haas Grotesk Text Pro"/>
            </a:rPr>
            <a:t> </a:t>
          </a:r>
          <a:r>
            <a:rPr lang="fa-IR" sz="1800" kern="1200" dirty="0" err="1">
              <a:latin typeface="Neue Haas Grotesk Text Pro"/>
            </a:rPr>
            <a:t>test</a:t>
          </a:r>
          <a:endParaRPr lang="fa-IR" sz="1800" kern="1200" dirty="0">
            <a:latin typeface="Neue Haas Grotesk Text Pro"/>
          </a:endParaRPr>
        </a:p>
      </dsp:txBody>
      <dsp:txXfrm>
        <a:off x="3127416" y="852323"/>
        <a:ext cx="2123623" cy="1243230"/>
      </dsp:txXfrm>
    </dsp:sp>
    <dsp:sp modelId="{2AC6027D-B714-4DED-8A51-5AEE00580195}">
      <dsp:nvSpPr>
        <dsp:cNvPr id="0" name=""/>
        <dsp:cNvSpPr/>
      </dsp:nvSpPr>
      <dsp:spPr>
        <a:xfrm>
          <a:off x="5483404" y="1201016"/>
          <a:ext cx="466607" cy="5458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5483404" y="1310185"/>
        <a:ext cx="326625" cy="327505"/>
      </dsp:txXfrm>
    </dsp:sp>
    <dsp:sp modelId="{3DA1E698-9454-4815-8BA2-6176AC1C9EF7}">
      <dsp:nvSpPr>
        <dsp:cNvPr id="0" name=""/>
        <dsp:cNvSpPr/>
      </dsp:nvSpPr>
      <dsp:spPr>
        <a:xfrm>
          <a:off x="6170111" y="813644"/>
          <a:ext cx="2200981" cy="13205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400" kern="1200" dirty="0" err="1"/>
            <a:t>Free</a:t>
          </a:r>
          <a:r>
            <a:rPr lang="fa-IR" sz="1400" kern="1200" dirty="0"/>
            <a:t> </a:t>
          </a:r>
          <a:r>
            <a:rPr lang="fa-IR" sz="1400" kern="1200" dirty="0" err="1"/>
            <a:t>Form</a:t>
          </a:r>
          <a:r>
            <a:rPr lang="fa-IR" sz="1400" kern="1200" dirty="0"/>
            <a:t> </a:t>
          </a:r>
          <a:r>
            <a:rPr lang="fa-IR" sz="1400" kern="1200" dirty="0" err="1"/>
            <a:t>Questions</a:t>
          </a:r>
          <a:r>
            <a:rPr lang="fa-IR" sz="1400" kern="1200" dirty="0">
              <a:latin typeface="Neue Haas Grotesk Text Pro"/>
            </a:rPr>
            <a:t>    186k </a:t>
          </a:r>
          <a:r>
            <a:rPr lang="fa-IR" sz="1400" kern="1200" dirty="0" err="1">
              <a:latin typeface="Neue Haas Grotesk Text Pro"/>
            </a:rPr>
            <a:t>before</a:t>
          </a:r>
          <a:r>
            <a:rPr lang="fa-IR" sz="1400" kern="1200" dirty="0">
              <a:latin typeface="Neue Haas Grotesk Text Pro"/>
            </a:rPr>
            <a:t> </a:t>
          </a:r>
          <a:r>
            <a:rPr lang="fa-IR" sz="1400" kern="1200" dirty="0" err="1">
              <a:latin typeface="Neue Haas Grotesk Text Pro"/>
            </a:rPr>
            <a:t>cleaning</a:t>
          </a:r>
          <a:r>
            <a:rPr lang="fa-IR" sz="1400" kern="1200" dirty="0">
              <a:latin typeface="Neue Haas Grotesk Text Pro"/>
            </a:rPr>
            <a:t>      22k </a:t>
          </a:r>
          <a:r>
            <a:rPr lang="fa-IR" sz="1400" kern="1200" dirty="0" err="1">
              <a:latin typeface="Neue Haas Grotesk Text Pro"/>
            </a:rPr>
            <a:t>train</a:t>
          </a:r>
          <a:r>
            <a:rPr lang="fa-IR" sz="1400" kern="1200" dirty="0">
              <a:latin typeface="Neue Haas Grotesk Text Pro"/>
            </a:rPr>
            <a:t>                          2k </a:t>
          </a:r>
          <a:r>
            <a:rPr lang="fa-IR" sz="1400" kern="1200" dirty="0" err="1">
              <a:latin typeface="Neue Haas Grotesk Text Pro"/>
            </a:rPr>
            <a:t>dev</a:t>
          </a:r>
          <a:r>
            <a:rPr lang="fa-IR" sz="1400" kern="1200" dirty="0">
              <a:latin typeface="Neue Haas Grotesk Text Pro"/>
            </a:rPr>
            <a:t>                              2k </a:t>
          </a:r>
          <a:r>
            <a:rPr lang="fa-IR" sz="1400" kern="1200" dirty="0" err="1">
              <a:latin typeface="Neue Haas Grotesk Text Pro"/>
            </a:rPr>
            <a:t>test</a:t>
          </a:r>
          <a:endParaRPr lang="fa-IR" sz="1400" kern="1200" dirty="0" err="1"/>
        </a:p>
      </dsp:txBody>
      <dsp:txXfrm>
        <a:off x="6208790" y="852323"/>
        <a:ext cx="2123623" cy="12432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6401" y="3378954"/>
            <a:ext cx="6394567" cy="3479046"/>
          </a:xfrm>
          <a:custGeom>
            <a:avLst/>
            <a:gdLst>
              <a:gd name="connsiteX0" fmla="*/ 5171297 w 6394567"/>
              <a:gd name="connsiteY0" fmla="*/ 284 h 3479046"/>
              <a:gd name="connsiteX1" fmla="*/ 6394290 w 6394567"/>
              <a:gd name="connsiteY1" fmla="*/ 430072 h 3479046"/>
              <a:gd name="connsiteX2" fmla="*/ 6394567 w 6394567"/>
              <a:gd name="connsiteY2" fmla="*/ 430316 h 3479046"/>
              <a:gd name="connsiteX3" fmla="*/ 6394567 w 6394567"/>
              <a:gd name="connsiteY3" fmla="*/ 3479046 h 3479046"/>
              <a:gd name="connsiteX4" fmla="*/ 0 w 6394567"/>
              <a:gd name="connsiteY4" fmla="*/ 3479046 h 3479046"/>
              <a:gd name="connsiteX5" fmla="*/ 3916974 w 6394567"/>
              <a:gd name="connsiteY5" fmla="*/ 405504 h 3479046"/>
              <a:gd name="connsiteX6" fmla="*/ 3959456 w 6394567"/>
              <a:gd name="connsiteY6" fmla="*/ 373857 h 3479046"/>
              <a:gd name="connsiteX7" fmla="*/ 5052215 w 6394567"/>
              <a:gd name="connsiteY7" fmla="*/ 1756 h 3479046"/>
              <a:gd name="connsiteX8" fmla="*/ 5171297 w 6394567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2C74-82F4-2A29-889B-EF23CEE6A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1122363"/>
            <a:ext cx="6211185" cy="230524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DD6-278F-604C-8A38-BBBAFC675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2" y="3549048"/>
            <a:ext cx="5029198" cy="195627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3946B-3F5A-C916-B62B-8D5938EA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539F-2DB8-FCDA-C884-9C3CD29B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A7B3-5D3B-D493-8F6F-1FEBB857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056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73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9C414-4A2F-78AF-ED60-6130D4C563B3}"/>
              </a:ext>
            </a:extLst>
          </p:cNvPr>
          <p:cNvSpPr/>
          <p:nvPr/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410AE4-7FC7-589E-B6D3-0DA7B5FC5CE3}"/>
              </a:ext>
            </a:extLst>
          </p:cNvPr>
          <p:cNvSpPr/>
          <p:nvPr/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81CBD-08D9-3C9A-7620-24F2D64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09738"/>
            <a:ext cx="6455434" cy="29812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5AE2B-1716-CEEC-73F8-E81F5919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759252"/>
            <a:ext cx="5397260" cy="95574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052-6EE8-979F-04FB-1B8DF81F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6285-161A-6869-27C2-0A159C2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D64F-5DAB-238D-C34A-1DCCB122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501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84D0-7460-7B08-F1EE-96EABE4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936841"/>
            <a:ext cx="10092477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B7F9-8ECB-7079-A11E-51D3903E2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97161-CAF5-CA48-D814-7ACD43AB9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9795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BD680-4E7A-5155-3CAE-6BD44EE8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152D-EFF2-B3AA-3F25-14E1136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D6032-FD7A-BFFD-9BE5-48EDBEFB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707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7F4D-4855-340E-03F3-4860885E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63283"/>
            <a:ext cx="10096500" cy="9160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B472-7426-C288-B5F6-0A1232DCE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1" y="1879287"/>
            <a:ext cx="4739628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94F9C-B6FA-97C3-F618-0CF956CB5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1" y="2505075"/>
            <a:ext cx="4739628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5665C-7910-AFA2-350F-42C06ED5A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330" y="1879287"/>
            <a:ext cx="4762970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1352E-1DE0-F0CD-6F81-1D8FF59C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330" y="2505075"/>
            <a:ext cx="4762970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8F7E4-7D9E-4736-3269-4F0C4699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386CF-9A84-8D2A-BC47-C951DD99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0844D-FE1F-49E7-3BBD-527FB72E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43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691C-93A5-1364-00A9-A470C289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57223"/>
            <a:ext cx="8886884" cy="10430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055BD-4154-B9D1-0B5B-B1E3A06B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9E4A-03D1-7A8B-233D-014A324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CEFC4-D276-DF45-F395-F5BD2EA7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756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2C0AD-76F4-FCE4-2717-0A9AA435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BB66-3F41-7F1D-5108-B3F679A8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6DA0-07AE-4BE4-B82F-7936D0E3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53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FB75-C953-0BD0-4E2E-71776742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626"/>
            <a:ext cx="3705225" cy="12867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AA52-60F3-40F2-673B-5848F425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75426"/>
            <a:ext cx="5980112" cy="47683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67E8-C561-5A72-AED3-442F66D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BFED3-7CB3-1B8B-9504-13A121CA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456C9-19A0-4441-B1AF-B7AFBF64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898EA-84CC-411C-0012-D3149536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70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1E10-1458-2553-05B4-313F7E2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82128"/>
            <a:ext cx="3705225" cy="127527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0F677-F177-6DED-1920-685B9D9FF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3000"/>
            <a:ext cx="5980112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1CB1-2109-480E-8904-4077C94D6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657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0DB38-7CB9-2140-BC21-6D2E7DD0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448AD-3B1D-4B5E-CAB9-BB5FD2CD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F53D-CF5A-87A2-E973-3B8CCDEB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985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0D2E-0561-F284-F89A-AAE3CD09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10239338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57C4C-16EC-2477-6332-830F5301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9848" y="2139696"/>
            <a:ext cx="10239338" cy="36776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40D3-6996-1C08-F1AF-87C35465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76C3-588F-B636-8CE0-AA2CBFBC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F8A9-EB1E-B344-A4B8-B58D0633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997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F3A28-33E4-2796-AE7A-1234569F5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4950" y="1081177"/>
            <a:ext cx="2508849" cy="4633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185FC-2BBB-E997-A5CD-F2C6CF6B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1081177"/>
            <a:ext cx="7505700" cy="4633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4B3C-96CD-071C-C2AD-2C7E04F8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2B04-F5E0-C5A3-C77D-6AE9A9E9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5BC2-C712-C4A4-50EC-E10D8834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289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F4A25-A386-9574-775C-E5E5F9FC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8886884" cy="95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7885F-2B7B-74DB-9996-E0ACEBC9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39696"/>
            <a:ext cx="8883836" cy="367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4F519-BA47-2B81-CC1C-7E1F119EC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7379" y="4629744"/>
            <a:ext cx="2653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E351CED-465B-40B5-ADCE-957C918F227B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2D7B-C352-1630-4C3D-7D5983C04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2" y="6318446"/>
            <a:ext cx="2743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04F0-DF9B-480B-CC46-BAE7A81FB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18446"/>
            <a:ext cx="615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349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0A7E8C1-C94C-2023-9143-01B16A21D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1066801" y="1291771"/>
            <a:ext cx="3836592" cy="24841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a-IR" sz="3300">
                <a:ea typeface="+mj-lt"/>
                <a:cs typeface="+mj-lt"/>
              </a:rPr>
              <a:t>Developing a medical language model based on reasoning in Persian language</a:t>
            </a:r>
          </a:p>
        </p:txBody>
      </p:sp>
      <p:sp>
        <p:nvSpPr>
          <p:cNvPr id="3" name="زیر نویس 2"/>
          <p:cNvSpPr>
            <a:spLocks noGrp="1"/>
          </p:cNvSpPr>
          <p:nvPr>
            <p:ph type="subTitle" idx="1"/>
          </p:nvPr>
        </p:nvSpPr>
        <p:spPr>
          <a:xfrm>
            <a:off x="1066800" y="3839030"/>
            <a:ext cx="3836593" cy="1418770"/>
          </a:xfrm>
        </p:spPr>
        <p:txBody>
          <a:bodyPr vert="horz" lIns="91440" tIns="45720" rIns="91440" bIns="45720" rtlCol="1" anchor="t">
            <a:normAutofit fontScale="85000" lnSpcReduction="10000"/>
          </a:bodyPr>
          <a:lstStyle/>
          <a:p>
            <a:r>
              <a:rPr lang="fa-IR" dirty="0">
                <a:cs typeface="Arial"/>
              </a:rPr>
              <a:t>Mehrdad Ghassabi</a:t>
            </a:r>
          </a:p>
          <a:p>
            <a:r>
              <a:rPr lang="fa-IR" dirty="0" err="1">
                <a:cs typeface="Arial"/>
              </a:rPr>
              <a:t>Supervisor</a:t>
            </a:r>
            <a:r>
              <a:rPr lang="fa-IR" dirty="0">
                <a:cs typeface="Arial"/>
              </a:rPr>
              <a:t>: </a:t>
            </a:r>
            <a:r>
              <a:rPr lang="fa-IR" dirty="0" err="1">
                <a:cs typeface="Arial"/>
              </a:rPr>
              <a:t>Hamidreza</a:t>
            </a:r>
            <a:r>
              <a:rPr lang="fa-IR" dirty="0">
                <a:cs typeface="Arial"/>
              </a:rPr>
              <a:t> </a:t>
            </a:r>
            <a:r>
              <a:rPr lang="fa-IR" dirty="0" err="1">
                <a:cs typeface="Arial"/>
              </a:rPr>
              <a:t>Baradaran</a:t>
            </a:r>
          </a:p>
          <a:p>
            <a:r>
              <a:rPr lang="fa-IR" dirty="0" err="1">
                <a:cs typeface="Arial"/>
              </a:rPr>
              <a:t>Feb</a:t>
            </a:r>
            <a:r>
              <a:rPr lang="fa-IR" dirty="0">
                <a:cs typeface="Arial"/>
              </a:rPr>
              <a:t> 2026</a:t>
            </a:r>
          </a:p>
        </p:txBody>
      </p:sp>
      <p:pic>
        <p:nvPicPr>
          <p:cNvPr id="5" name="تصویر 4">
            <a:extLst>
              <a:ext uri="{FF2B5EF4-FFF2-40B4-BE49-F238E27FC236}">
                <a16:creationId xmlns:a16="http://schemas.microsoft.com/office/drawing/2014/main" id="{496EE30A-F804-298B-8011-435BD9535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821" y="1144965"/>
            <a:ext cx="4581378" cy="455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470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063577F-2949-C31E-B4B0-5E250230F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7E4A51B-BAF6-3729-A2C0-89331F2FB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365" y="-318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40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C1D65363-07C5-E579-DF58-9E11E470E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1" y="1143000"/>
            <a:ext cx="5029199" cy="1061720"/>
          </a:xfrm>
        </p:spPr>
        <p:txBody>
          <a:bodyPr anchor="t">
            <a:normAutofit/>
          </a:bodyPr>
          <a:lstStyle/>
          <a:p>
            <a:r>
              <a:rPr lang="fa-IR" err="1"/>
              <a:t>Summary</a:t>
            </a:r>
          </a:p>
        </p:txBody>
      </p:sp>
      <p:graphicFrame>
        <p:nvGraphicFramePr>
          <p:cNvPr id="4" name="نگهدارنده مکان محتوا 3">
            <a:extLst>
              <a:ext uri="{FF2B5EF4-FFF2-40B4-BE49-F238E27FC236}">
                <a16:creationId xmlns:a16="http://schemas.microsoft.com/office/drawing/2014/main" id="{A87BB1F9-B989-33F7-298A-4D636DC2E6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1666059"/>
              </p:ext>
            </p:extLst>
          </p:nvPr>
        </p:nvGraphicFramePr>
        <p:xfrm>
          <a:off x="2860038" y="2823015"/>
          <a:ext cx="8188962" cy="2664857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186259">
                  <a:extLst>
                    <a:ext uri="{9D8B030D-6E8A-4147-A177-3AD203B41FA5}">
                      <a16:colId xmlns:a16="http://schemas.microsoft.com/office/drawing/2014/main" val="1292793887"/>
                    </a:ext>
                  </a:extLst>
                </a:gridCol>
                <a:gridCol w="3178581">
                  <a:extLst>
                    <a:ext uri="{9D8B030D-6E8A-4147-A177-3AD203B41FA5}">
                      <a16:colId xmlns:a16="http://schemas.microsoft.com/office/drawing/2014/main" val="1304316878"/>
                    </a:ext>
                  </a:extLst>
                </a:gridCol>
                <a:gridCol w="1824122">
                  <a:extLst>
                    <a:ext uri="{9D8B030D-6E8A-4147-A177-3AD203B41FA5}">
                      <a16:colId xmlns:a16="http://schemas.microsoft.com/office/drawing/2014/main" val="231655393"/>
                    </a:ext>
                  </a:extLst>
                </a:gridCol>
              </a:tblGrid>
              <a:tr h="346997">
                <a:tc>
                  <a:txBody>
                    <a:bodyPr/>
                    <a:lstStyle/>
                    <a:p>
                      <a:pPr rtl="1"/>
                      <a:r>
                        <a:rPr lang="fa-IR" sz="1500" err="1"/>
                        <a:t>Gaokerena</a:t>
                      </a:r>
                      <a:r>
                        <a:rPr lang="fa-IR" sz="1500"/>
                        <a:t>-R</a:t>
                      </a:r>
                    </a:p>
                  </a:txBody>
                  <a:tcPr marL="75736" marR="75736" marT="37868" marB="37868"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fa-IR" sz="1500" err="1"/>
                        <a:t>Gaokerena</a:t>
                      </a:r>
                      <a:r>
                        <a:rPr lang="fa-IR" sz="1500"/>
                        <a:t>-V</a:t>
                      </a:r>
                    </a:p>
                  </a:txBody>
                  <a:tcPr marL="75736" marR="75736" marT="37868" marB="37868"/>
                </a:tc>
                <a:tc>
                  <a:txBody>
                    <a:bodyPr/>
                    <a:lstStyle/>
                    <a:p>
                      <a:pPr rtl="1"/>
                      <a:endParaRPr lang="fa-IR" sz="1500"/>
                    </a:p>
                  </a:txBody>
                  <a:tcPr marL="75736" marR="75736" marT="37868" marB="37868"/>
                </a:tc>
                <a:extLst>
                  <a:ext uri="{0D108BD9-81ED-4DB2-BD59-A6C34878D82A}">
                    <a16:rowId xmlns:a16="http://schemas.microsoft.com/office/drawing/2014/main" val="3718002085"/>
                  </a:ext>
                </a:extLst>
              </a:tr>
              <a:tr h="346997"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fa-IR" sz="1500" b="0" i="0" u="none" strike="noStrike" noProof="0" err="1">
                          <a:latin typeface="Neue Haas Grotesk Text Pro"/>
                        </a:rPr>
                        <a:t>Mehrdadghassabi</a:t>
                      </a:r>
                      <a:r>
                        <a:rPr lang="fa-IR" sz="1500" b="0" i="0" u="none" strike="noStrike" noProof="0">
                          <a:latin typeface="Neue Haas Grotesk Text Pro"/>
                        </a:rPr>
                        <a:t>/</a:t>
                      </a:r>
                      <a:r>
                        <a:rPr lang="fa-IR" sz="1500" b="0" i="0" u="none" strike="noStrike" noProof="0" err="1">
                          <a:latin typeface="Neue Haas Grotesk Text Pro"/>
                        </a:rPr>
                        <a:t>Gaokerena</a:t>
                      </a:r>
                      <a:r>
                        <a:rPr lang="fa-IR" sz="1500" b="0" i="0" u="none" strike="noStrike" noProof="0">
                          <a:latin typeface="Neue Haas Grotesk Text Pro"/>
                        </a:rPr>
                        <a:t>-R</a:t>
                      </a:r>
                      <a:endParaRPr lang="fa-IR" sz="1500"/>
                    </a:p>
                  </a:txBody>
                  <a:tcPr marL="75736" marR="75736" marT="37868" marB="37868"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fa-IR" sz="1500" b="0" i="0" u="none" strike="noStrike" noProof="0" err="1">
                          <a:latin typeface="Neue Haas Grotesk Text Pro"/>
                        </a:rPr>
                        <a:t>Mehrdadghassabi</a:t>
                      </a:r>
                      <a:r>
                        <a:rPr lang="fa-IR" sz="1500" b="0" i="0" u="none" strike="noStrike" noProof="0">
                          <a:latin typeface="Neue Haas Grotesk Text Pro"/>
                        </a:rPr>
                        <a:t>/</a:t>
                      </a:r>
                      <a:r>
                        <a:rPr lang="fa-IR" sz="1500" b="0" i="0" u="none" strike="noStrike" noProof="0" err="1">
                          <a:latin typeface="Neue Haas Grotesk Text Pro"/>
                        </a:rPr>
                        <a:t>Gaokerena</a:t>
                      </a:r>
                      <a:r>
                        <a:rPr lang="fa-IR" sz="1500" b="0" i="0" u="none" strike="noStrike" noProof="0">
                          <a:latin typeface="Neue Haas Grotesk Text Pro"/>
                        </a:rPr>
                        <a:t>-V</a:t>
                      </a:r>
                      <a:endParaRPr lang="fa-IR" sz="1500"/>
                    </a:p>
                  </a:txBody>
                  <a:tcPr marL="75736" marR="75736" marT="37868" marB="37868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500" err="1"/>
                        <a:t>Github</a:t>
                      </a:r>
                      <a:r>
                        <a:rPr lang="fa-IR" sz="1500"/>
                        <a:t> </a:t>
                      </a:r>
                      <a:r>
                        <a:rPr lang="fa-IR" sz="1500" err="1"/>
                        <a:t>repository</a:t>
                      </a:r>
                    </a:p>
                  </a:txBody>
                  <a:tcPr marL="75736" marR="75736" marT="37868" marB="37868"/>
                </a:tc>
                <a:extLst>
                  <a:ext uri="{0D108BD9-81ED-4DB2-BD59-A6C34878D82A}">
                    <a16:rowId xmlns:a16="http://schemas.microsoft.com/office/drawing/2014/main" val="882534888"/>
                  </a:ext>
                </a:extLst>
              </a:tr>
              <a:tr h="346997"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fa-IR" sz="1500" b="0" i="0" u="none" strike="noStrike" noProof="0">
                          <a:latin typeface="Neue Haas Grotesk Text Pro"/>
                        </a:rPr>
                        <a:t>1.0gaokerena/</a:t>
                      </a:r>
                      <a:r>
                        <a:rPr lang="fa-IR" sz="1500" b="0" i="0" u="none" strike="noStrike" noProof="0" err="1">
                          <a:latin typeface="Neue Haas Grotesk Text Pro"/>
                        </a:rPr>
                        <a:t>gaokerena</a:t>
                      </a:r>
                      <a:r>
                        <a:rPr lang="fa-IR" sz="1500" b="0" i="0" u="none" strike="noStrike" noProof="0">
                          <a:latin typeface="Neue Haas Grotesk Text Pro"/>
                        </a:rPr>
                        <a:t>-r</a:t>
                      </a:r>
                      <a:endParaRPr lang="fa-IR" sz="1500"/>
                    </a:p>
                  </a:txBody>
                  <a:tcPr marL="75736" marR="75736" marT="37868" marB="37868"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fa-IR" sz="1500" b="0" i="0" u="none" strike="noStrike" noProof="0">
                          <a:solidFill>
                            <a:srgbClr val="000000"/>
                          </a:solidFill>
                        </a:rPr>
                        <a:t>1.0</a:t>
                      </a:r>
                      <a:r>
                        <a:rPr lang="fa-IR" sz="1500" b="0" i="0" u="none" strike="noStrike" noProof="0">
                          <a:latin typeface="Neue Haas Grotesk Text Pro"/>
                        </a:rPr>
                        <a:t>gaokerena/</a:t>
                      </a:r>
                      <a:r>
                        <a:rPr lang="fa-IR" sz="1500" b="0" i="0" u="none" strike="noStrike" noProof="0" err="1">
                          <a:latin typeface="Neue Haas Grotesk Text Pro"/>
                        </a:rPr>
                        <a:t>gaokerena</a:t>
                      </a:r>
                      <a:r>
                        <a:rPr lang="fa-IR" sz="1500" b="0" i="0" u="none" strike="noStrike" noProof="0">
                          <a:latin typeface="Neue Haas Grotesk Text Pro"/>
                        </a:rPr>
                        <a:t>-v</a:t>
                      </a:r>
                      <a:endParaRPr lang="fa-IR" sz="1500"/>
                    </a:p>
                  </a:txBody>
                  <a:tcPr marL="75736" marR="75736" marT="37868" marB="37868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500" err="1"/>
                        <a:t>Model</a:t>
                      </a:r>
                      <a:r>
                        <a:rPr lang="fa-IR" sz="1500"/>
                        <a:t> </a:t>
                      </a:r>
                      <a:r>
                        <a:rPr lang="fa-IR" sz="1500" err="1"/>
                        <a:t>repository</a:t>
                      </a:r>
                    </a:p>
                  </a:txBody>
                  <a:tcPr marL="75736" marR="75736" marT="37868" marB="37868"/>
                </a:tc>
                <a:extLst>
                  <a:ext uri="{0D108BD9-81ED-4DB2-BD59-A6C34878D82A}">
                    <a16:rowId xmlns:a16="http://schemas.microsoft.com/office/drawing/2014/main" val="3355254730"/>
                  </a:ext>
                </a:extLst>
              </a:tr>
              <a:tr h="346997"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fa-IR" sz="1500" b="0" i="0" u="none" strike="noStrike" noProof="0">
                          <a:latin typeface="Neue Haas Grotesk Text Pro"/>
                        </a:rPr>
                        <a:t>2510.20059</a:t>
                      </a:r>
                      <a:endParaRPr lang="fa-IR" sz="1500"/>
                    </a:p>
                  </a:txBody>
                  <a:tcPr marL="75736" marR="75736" marT="37868" marB="37868"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fa-IR" sz="1500" b="0" i="0" u="none" strike="noStrike" noProof="0">
                          <a:latin typeface="Neue Haas Grotesk Text Pro"/>
                        </a:rPr>
                        <a:t>2505.16000</a:t>
                      </a:r>
                      <a:endParaRPr lang="fa-IR" sz="1500"/>
                    </a:p>
                  </a:txBody>
                  <a:tcPr marL="75736" marR="75736" marT="37868" marB="37868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500" err="1"/>
                        <a:t>Arxiv</a:t>
                      </a:r>
                      <a:r>
                        <a:rPr lang="fa-IR" sz="1500"/>
                        <a:t> </a:t>
                      </a:r>
                      <a:r>
                        <a:rPr lang="fa-IR" sz="1500" err="1"/>
                        <a:t>id</a:t>
                      </a:r>
                    </a:p>
                  </a:txBody>
                  <a:tcPr marL="75736" marR="75736" marT="37868" marB="37868"/>
                </a:tc>
                <a:extLst>
                  <a:ext uri="{0D108BD9-81ED-4DB2-BD59-A6C34878D82A}">
                    <a16:rowId xmlns:a16="http://schemas.microsoft.com/office/drawing/2014/main" val="1495663255"/>
                  </a:ext>
                </a:extLst>
              </a:tr>
              <a:tr h="346997">
                <a:tc>
                  <a:txBody>
                    <a:bodyPr/>
                    <a:lstStyle/>
                    <a:p>
                      <a:pPr rtl="1"/>
                      <a:r>
                        <a:rPr lang="fa-IR" sz="1500"/>
                        <a:t>70$</a:t>
                      </a:r>
                    </a:p>
                  </a:txBody>
                  <a:tcPr marL="75736" marR="75736" marT="37868" marB="37868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500"/>
                        <a:t>300$</a:t>
                      </a:r>
                    </a:p>
                  </a:txBody>
                  <a:tcPr marL="75736" marR="75736" marT="37868" marB="37868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500" err="1"/>
                        <a:t>Cost</a:t>
                      </a:r>
                    </a:p>
                  </a:txBody>
                  <a:tcPr marL="75736" marR="75736" marT="37868" marB="37868"/>
                </a:tc>
                <a:extLst>
                  <a:ext uri="{0D108BD9-81ED-4DB2-BD59-A6C34878D82A}">
                    <a16:rowId xmlns:a16="http://schemas.microsoft.com/office/drawing/2014/main" val="3795572135"/>
                  </a:ext>
                </a:extLst>
              </a:tr>
              <a:tr h="582875"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fa-IR" sz="1500" b="0" i="0" u="none" strike="noStrike" noProof="0" err="1"/>
                        <a:t>Yes</a:t>
                      </a:r>
                      <a:r>
                        <a:rPr lang="fa-IR" sz="1500" b="0" i="0" u="none" strike="noStrike" noProof="0"/>
                        <a:t> </a:t>
                      </a:r>
                      <a:endParaRPr lang="fa-IR" sz="1500"/>
                    </a:p>
                  </a:txBody>
                  <a:tcPr marL="75736" marR="75736" marT="37868" marB="37868"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fa-IR" sz="1500" b="0" i="0" u="none" strike="noStrike" noProof="0" err="1">
                          <a:latin typeface="Neue Haas Grotesk Text Pro"/>
                        </a:rPr>
                        <a:t>No</a:t>
                      </a:r>
                      <a:r>
                        <a:rPr lang="fa-IR" sz="1500" b="0" i="0" u="none" strike="noStrike" noProof="0">
                          <a:latin typeface="Neue Haas Grotesk Text Pro"/>
                        </a:rPr>
                        <a:t> </a:t>
                      </a:r>
                      <a:endParaRPr lang="fa-IR" sz="1500"/>
                    </a:p>
                  </a:txBody>
                  <a:tcPr marL="75736" marR="75736" marT="37868" marB="37868"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fa-IR" sz="1500" b="0" i="0" u="none" strike="noStrike" noProof="0" err="1">
                          <a:latin typeface="Neue Haas Grotesk Text Pro"/>
                        </a:rPr>
                        <a:t>Reasoning</a:t>
                      </a:r>
                      <a:r>
                        <a:rPr lang="fa-IR" sz="1500" b="0" i="0" u="none" strike="noStrike" noProof="0">
                          <a:latin typeface="Neue Haas Grotesk Text Pro"/>
                        </a:rPr>
                        <a:t> </a:t>
                      </a:r>
                      <a:r>
                        <a:rPr lang="fa-IR" sz="1500" b="0" i="0" u="none" strike="noStrike" noProof="0" err="1">
                          <a:latin typeface="Neue Haas Grotesk Text Pro"/>
                        </a:rPr>
                        <a:t>capability</a:t>
                      </a:r>
                    </a:p>
                  </a:txBody>
                  <a:tcPr marL="75736" marR="75736" marT="37868" marB="37868"/>
                </a:tc>
                <a:extLst>
                  <a:ext uri="{0D108BD9-81ED-4DB2-BD59-A6C34878D82A}">
                    <a16:rowId xmlns:a16="http://schemas.microsoft.com/office/drawing/2014/main" val="907248258"/>
                  </a:ext>
                </a:extLst>
              </a:tr>
              <a:tr h="346997">
                <a:tc>
                  <a:txBody>
                    <a:bodyPr/>
                    <a:lstStyle/>
                    <a:p>
                      <a:pPr rtl="1"/>
                      <a:r>
                        <a:rPr lang="fa-IR" sz="1500"/>
                        <a:t>2025ICSPIS</a:t>
                      </a:r>
                    </a:p>
                  </a:txBody>
                  <a:tcPr marL="75736" marR="75736" marT="37868" marB="37868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500"/>
                        <a:t>2025ICBME</a:t>
                      </a:r>
                    </a:p>
                  </a:txBody>
                  <a:tcPr marL="75736" marR="75736" marT="37868" marB="37868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500" err="1"/>
                        <a:t>Published</a:t>
                      </a:r>
                      <a:r>
                        <a:rPr lang="fa-IR" sz="1500"/>
                        <a:t> </a:t>
                      </a:r>
                      <a:r>
                        <a:rPr lang="fa-IR" sz="1500" err="1"/>
                        <a:t>in</a:t>
                      </a:r>
                    </a:p>
                  </a:txBody>
                  <a:tcPr marL="75736" marR="75736" marT="37868" marB="37868"/>
                </a:tc>
                <a:extLst>
                  <a:ext uri="{0D108BD9-81ED-4DB2-BD59-A6C34878D82A}">
                    <a16:rowId xmlns:a16="http://schemas.microsoft.com/office/drawing/2014/main" val="1665329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5139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A364E18-0909-04B8-85B7-1D75F7673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A4E4C0D-6BCA-FC17-62BD-B629662A9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19000">
                <a:schemeClr val="bg2"/>
              </a:gs>
              <a:gs pos="99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EC2E9AFF-25D6-CB3B-318E-0A408EB1B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680" y="1143000"/>
            <a:ext cx="7946597" cy="1257300"/>
          </a:xfrm>
        </p:spPr>
        <p:txBody>
          <a:bodyPr anchor="ctr">
            <a:normAutofit/>
          </a:bodyPr>
          <a:lstStyle/>
          <a:p>
            <a:r>
              <a:rPr lang="fa-IR" err="1">
                <a:ea typeface="+mj-lt"/>
                <a:cs typeface="+mj-lt"/>
              </a:rPr>
              <a:t>Motivation</a:t>
            </a:r>
            <a:endParaRPr lang="fa-IR" err="1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B08FA76-1ED5-E432-8E59-C7ABAAB6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1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نگهدارنده مکان محتوا 2">
            <a:extLst>
              <a:ext uri="{FF2B5EF4-FFF2-40B4-BE49-F238E27FC236}">
                <a16:creationId xmlns:a16="http://schemas.microsoft.com/office/drawing/2014/main" id="{5E6A8D49-E117-CB66-6D64-6C9958283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7680" y="2411519"/>
            <a:ext cx="5380530" cy="33946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a-IR">
                <a:ea typeface="+mn-lt"/>
                <a:cs typeface="+mn-lt"/>
              </a:rPr>
              <a:t>AI </a:t>
            </a:r>
            <a:r>
              <a:rPr lang="fa-IR" err="1">
                <a:ea typeface="+mn-lt"/>
                <a:cs typeface="+mn-lt"/>
              </a:rPr>
              <a:t>and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language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models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are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transforming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healthcare</a:t>
            </a:r>
          </a:p>
          <a:p>
            <a:r>
              <a:rPr lang="fa-IR" err="1">
                <a:ea typeface="+mn-lt"/>
                <a:cs typeface="+mn-lt"/>
              </a:rPr>
              <a:t>English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models</a:t>
            </a:r>
            <a:r>
              <a:rPr lang="fa-IR">
                <a:ea typeface="+mn-lt"/>
                <a:cs typeface="+mn-lt"/>
              </a:rPr>
              <a:t>  </a:t>
            </a:r>
            <a:r>
              <a:rPr lang="fa-IR" err="1">
                <a:ea typeface="+mn-lt"/>
                <a:cs typeface="+mn-lt"/>
              </a:rPr>
              <a:t>already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provide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expert-level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medical</a:t>
            </a:r>
            <a:r>
              <a:rPr lang="fa-IR">
                <a:ea typeface="+mn-lt"/>
                <a:cs typeface="+mn-lt"/>
              </a:rPr>
              <a:t> Q&amp;A</a:t>
            </a:r>
          </a:p>
          <a:p>
            <a:r>
              <a:rPr lang="fa-IR" err="1">
                <a:ea typeface="+mn-lt"/>
                <a:cs typeface="+mn-lt"/>
              </a:rPr>
              <a:t>But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Persian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still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lacks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open</a:t>
            </a:r>
            <a:r>
              <a:rPr lang="fa-IR">
                <a:ea typeface="+mn-lt"/>
                <a:cs typeface="+mn-lt"/>
              </a:rPr>
              <a:t>, </a:t>
            </a:r>
            <a:r>
              <a:rPr lang="fa-IR" err="1">
                <a:ea typeface="+mn-lt"/>
                <a:cs typeface="+mn-lt"/>
              </a:rPr>
              <a:t>reliable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medical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language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models</a:t>
            </a:r>
            <a:endParaRPr lang="fa-IR">
              <a:ea typeface="+mn-lt"/>
              <a:cs typeface="+mn-lt"/>
            </a:endParaRPr>
          </a:p>
          <a:p>
            <a:r>
              <a:rPr lang="fa-IR" err="1">
                <a:ea typeface="+mn-lt"/>
                <a:cs typeface="+mn-lt"/>
              </a:rPr>
              <a:t>Building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such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models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is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crucial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for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privacy-friendly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local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deployment</a:t>
            </a:r>
          </a:p>
        </p:txBody>
      </p:sp>
    </p:spTree>
    <p:extLst>
      <p:ext uri="{BB962C8B-B14F-4D97-AF65-F5344CB8AC3E}">
        <p14:creationId xmlns:p14="http://schemas.microsoft.com/office/powerpoint/2010/main" val="1059454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D00CB3E-22D8-C88A-E699-CC9736BC9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EA815684-8705-AE5F-F354-6DDDEFDCB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1132367"/>
            <a:ext cx="7608074" cy="1257299"/>
          </a:xfrm>
        </p:spPr>
        <p:txBody>
          <a:bodyPr anchor="ctr">
            <a:normAutofit/>
          </a:bodyPr>
          <a:lstStyle/>
          <a:p>
            <a:r>
              <a:rPr lang="fa-IR" sz="4800"/>
              <a:t>Problem Statement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25E526-838B-DBE7-6600-D159BFBCE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H="1">
            <a:off x="5827306" y="3434599"/>
            <a:ext cx="6407229" cy="3479258"/>
          </a:xfrm>
          <a:custGeom>
            <a:avLst/>
            <a:gdLst>
              <a:gd name="connsiteX0" fmla="*/ 53408 w 6407229"/>
              <a:gd name="connsiteY0" fmla="*/ 3479258 h 3479258"/>
              <a:gd name="connsiteX1" fmla="*/ 6407229 w 6407229"/>
              <a:gd name="connsiteY1" fmla="*/ 3368352 h 3479258"/>
              <a:gd name="connsiteX2" fmla="*/ 2513111 w 6407229"/>
              <a:gd name="connsiteY2" fmla="*/ 401274 h 3479258"/>
              <a:gd name="connsiteX3" fmla="*/ 2468202 w 6407229"/>
              <a:gd name="connsiteY3" fmla="*/ 369022 h 3479258"/>
              <a:gd name="connsiteX4" fmla="*/ 1321050 w 6407229"/>
              <a:gd name="connsiteY4" fmla="*/ 613 h 3479258"/>
              <a:gd name="connsiteX5" fmla="*/ 1196752 w 6407229"/>
              <a:gd name="connsiteY5" fmla="*/ 1245 h 3479258"/>
              <a:gd name="connsiteX6" fmla="*/ 56027 w 6407229"/>
              <a:gd name="connsiteY6" fmla="*/ 376720 h 3479258"/>
              <a:gd name="connsiteX7" fmla="*/ 0 w 6407229"/>
              <a:gd name="connsiteY7" fmla="*/ 419528 h 3479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07229" h="3479258">
                <a:moveTo>
                  <a:pt x="53408" y="3479258"/>
                </a:moveTo>
                <a:lnTo>
                  <a:pt x="6407229" y="3368352"/>
                </a:lnTo>
                <a:lnTo>
                  <a:pt x="2513111" y="401274"/>
                </a:lnTo>
                <a:lnTo>
                  <a:pt x="2468202" y="369022"/>
                </a:lnTo>
                <a:cubicBezTo>
                  <a:pt x="2117855" y="130665"/>
                  <a:pt x="1719063" y="10130"/>
                  <a:pt x="1321050" y="613"/>
                </a:cubicBezTo>
                <a:cubicBezTo>
                  <a:pt x="1279590" y="-379"/>
                  <a:pt x="1238139" y="-165"/>
                  <a:pt x="1196752" y="1245"/>
                </a:cubicBezTo>
                <a:cubicBezTo>
                  <a:pt x="793227" y="14995"/>
                  <a:pt x="395796" y="142529"/>
                  <a:pt x="56027" y="376720"/>
                </a:cubicBezTo>
                <a:lnTo>
                  <a:pt x="0" y="419528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نگهدارنده مکان محتوا 2">
            <a:extLst>
              <a:ext uri="{FF2B5EF4-FFF2-40B4-BE49-F238E27FC236}">
                <a16:creationId xmlns:a16="http://schemas.microsoft.com/office/drawing/2014/main" id="{426704C4-F3A4-021A-85DA-EE6BABAC3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736850"/>
            <a:ext cx="5029200" cy="29781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a-IR" err="1">
                <a:ea typeface="+mn-lt"/>
                <a:cs typeface="+mn-lt"/>
              </a:rPr>
              <a:t>No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Open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Persian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medical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language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models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existed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before</a:t>
            </a:r>
            <a:endParaRPr lang="fa-IR">
              <a:ea typeface="+mn-lt"/>
              <a:cs typeface="+mn-lt"/>
            </a:endParaRPr>
          </a:p>
          <a:p>
            <a:r>
              <a:rPr lang="fa-IR" err="1">
                <a:ea typeface="+mn-lt"/>
                <a:cs typeface="+mn-lt"/>
              </a:rPr>
              <a:t>No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Open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Persian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medical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corpus</a:t>
            </a:r>
            <a:r>
              <a:rPr lang="fa-IR">
                <a:ea typeface="+mn-lt"/>
                <a:cs typeface="+mn-lt"/>
              </a:rPr>
              <a:t>, QA </a:t>
            </a:r>
            <a:r>
              <a:rPr lang="fa-IR" err="1">
                <a:ea typeface="+mn-lt"/>
                <a:cs typeface="+mn-lt"/>
              </a:rPr>
              <a:t>dataset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and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benchmark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existed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before</a:t>
            </a:r>
            <a:endParaRPr lang="fa-IR">
              <a:ea typeface="+mn-lt"/>
              <a:cs typeface="+mn-lt"/>
            </a:endParaRPr>
          </a:p>
          <a:p>
            <a:r>
              <a:rPr lang="fa-IR" err="1"/>
              <a:t>Facing</a:t>
            </a:r>
            <a:r>
              <a:rPr lang="fa-IR"/>
              <a:t> </a:t>
            </a:r>
            <a:r>
              <a:rPr lang="fa-IR" err="1"/>
              <a:t>almost</a:t>
            </a:r>
            <a:r>
              <a:rPr lang="fa-IR"/>
              <a:t> a </a:t>
            </a:r>
            <a:r>
              <a:rPr lang="fa-IR" err="1"/>
              <a:t>white</a:t>
            </a:r>
            <a:r>
              <a:rPr lang="fa-IR"/>
              <a:t> </a:t>
            </a:r>
            <a:r>
              <a:rPr lang="fa-IR" err="1"/>
              <a:t>paper</a:t>
            </a:r>
            <a:r>
              <a:rPr lang="fa-IR"/>
              <a:t> </a:t>
            </a:r>
            <a:r>
              <a:rPr lang="fa-IR" err="1"/>
              <a:t>on</a:t>
            </a:r>
            <a:r>
              <a:rPr lang="fa-IR"/>
              <a:t> </a:t>
            </a:r>
            <a:r>
              <a:rPr lang="fa-IR" err="1"/>
              <a:t>this</a:t>
            </a:r>
            <a:r>
              <a:rPr lang="fa-IR"/>
              <a:t> </a:t>
            </a:r>
            <a:r>
              <a:rPr lang="fa-IR" err="1"/>
              <a:t>topic</a:t>
            </a:r>
          </a:p>
          <a:p>
            <a:pPr marL="0" indent="0">
              <a:buNone/>
            </a:pPr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489693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6401" y="3378954"/>
            <a:ext cx="6394567" cy="3479046"/>
          </a:xfrm>
          <a:custGeom>
            <a:avLst/>
            <a:gdLst/>
            <a:ahLst/>
            <a:cxnLst/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B4F0AD4-7619-011B-2FA7-793E0764AA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65114C3-015C-6D16-DD63-F1A2D3D8F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V="1">
            <a:off x="-35524" y="-119829"/>
            <a:ext cx="12204742" cy="6152857"/>
          </a:xfrm>
          <a:custGeom>
            <a:avLst/>
            <a:gdLst>
              <a:gd name="connsiteX0" fmla="*/ 2879413 w 12204742"/>
              <a:gd name="connsiteY0" fmla="*/ 2336 h 6152857"/>
              <a:gd name="connsiteX1" fmla="*/ 140766 w 12204742"/>
              <a:gd name="connsiteY1" fmla="*/ 1212659 h 6152857"/>
              <a:gd name="connsiteX2" fmla="*/ 0 w 12204742"/>
              <a:gd name="connsiteY2" fmla="*/ 1366844 h 6152857"/>
              <a:gd name="connsiteX3" fmla="*/ 83541 w 12204742"/>
              <a:gd name="connsiteY3" fmla="*/ 6152857 h 6152857"/>
              <a:gd name="connsiteX4" fmla="*/ 12204742 w 12204742"/>
              <a:gd name="connsiteY4" fmla="*/ 5941281 h 6152857"/>
              <a:gd name="connsiteX5" fmla="*/ 5349696 w 12204742"/>
              <a:gd name="connsiteY5" fmla="*/ 753031 h 6152857"/>
              <a:gd name="connsiteX6" fmla="*/ 5265419 w 12204742"/>
              <a:gd name="connsiteY6" fmla="*/ 692507 h 6152857"/>
              <a:gd name="connsiteX7" fmla="*/ 3112670 w 12204742"/>
              <a:gd name="connsiteY7" fmla="*/ 1150 h 6152857"/>
              <a:gd name="connsiteX8" fmla="*/ 2879413 w 12204742"/>
              <a:gd name="connsiteY8" fmla="*/ 2336 h 615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4742" h="6152857">
                <a:moveTo>
                  <a:pt x="2879413" y="2336"/>
                </a:moveTo>
                <a:cubicBezTo>
                  <a:pt x="1869738" y="36741"/>
                  <a:pt x="880393" y="450749"/>
                  <a:pt x="140766" y="1212659"/>
                </a:cubicBezTo>
                <a:lnTo>
                  <a:pt x="0" y="1366844"/>
                </a:lnTo>
                <a:lnTo>
                  <a:pt x="83541" y="6152857"/>
                </a:lnTo>
                <a:lnTo>
                  <a:pt x="12204742" y="5941281"/>
                </a:lnTo>
                <a:lnTo>
                  <a:pt x="5349696" y="753031"/>
                </a:lnTo>
                <a:lnTo>
                  <a:pt x="5265419" y="692507"/>
                </a:lnTo>
                <a:cubicBezTo>
                  <a:pt x="4607957" y="245206"/>
                  <a:pt x="3859582" y="19009"/>
                  <a:pt x="3112670" y="1150"/>
                </a:cubicBezTo>
                <a:cubicBezTo>
                  <a:pt x="3034867" y="-711"/>
                  <a:pt x="2957079" y="-310"/>
                  <a:pt x="2879413" y="2336"/>
                </a:cubicBez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C3D53CCA-373A-2CAE-83AF-53405A542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850005"/>
            <a:ext cx="6196885" cy="1655289"/>
          </a:xfrm>
        </p:spPr>
        <p:txBody>
          <a:bodyPr>
            <a:normAutofit/>
          </a:bodyPr>
          <a:lstStyle/>
          <a:p>
            <a:r>
              <a:rPr lang="fa-IR" sz="4800"/>
              <a:t>Phase 1</a:t>
            </a:r>
          </a:p>
        </p:txBody>
      </p:sp>
    </p:spTree>
    <p:extLst>
      <p:ext uri="{BB962C8B-B14F-4D97-AF65-F5344CB8AC3E}">
        <p14:creationId xmlns:p14="http://schemas.microsoft.com/office/powerpoint/2010/main" val="1703693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66F9435-E138-5C7C-61E7-12CCB3055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6D28B81A-EF34-FBB3-01E9-74EFFA8E9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1" y="1142999"/>
            <a:ext cx="2996484" cy="2714223"/>
          </a:xfrm>
        </p:spPr>
        <p:txBody>
          <a:bodyPr anchor="t">
            <a:normAutofit/>
          </a:bodyPr>
          <a:lstStyle/>
          <a:p>
            <a:r>
              <a:rPr lang="fa-IR" err="1"/>
              <a:t>Baseline</a:t>
            </a:r>
            <a:r>
              <a:rPr lang="fa-IR"/>
              <a:t> </a:t>
            </a:r>
            <a:r>
              <a:rPr lang="fa-IR" err="1"/>
              <a:t>Model</a:t>
            </a:r>
          </a:p>
        </p:txBody>
      </p:sp>
      <p:pic>
        <p:nvPicPr>
          <p:cNvPr id="4" name="تصویر 3" descr="یک تصویر شامل متن, تصویر صفحه&#10;&#10;محتوای تولید شده توسط هوش مصنوعی ممکن است نادرست باشد.">
            <a:extLst>
              <a:ext uri="{FF2B5EF4-FFF2-40B4-BE49-F238E27FC236}">
                <a16:creationId xmlns:a16="http://schemas.microsoft.com/office/drawing/2014/main" id="{3AC12358-F12A-730D-B2DC-7A68B58649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256" b="-2"/>
          <a:stretch>
            <a:fillRect/>
          </a:stretch>
        </p:blipFill>
        <p:spPr>
          <a:xfrm>
            <a:off x="4066862" y="614679"/>
            <a:ext cx="7035478" cy="3094435"/>
          </a:xfrm>
          <a:prstGeom prst="rect">
            <a:avLst/>
          </a:prstGeom>
        </p:spPr>
      </p:pic>
      <p:sp>
        <p:nvSpPr>
          <p:cNvPr id="3" name="نگهدارنده مکان محتوا 2">
            <a:extLst>
              <a:ext uri="{FF2B5EF4-FFF2-40B4-BE49-F238E27FC236}">
                <a16:creationId xmlns:a16="http://schemas.microsoft.com/office/drawing/2014/main" id="{E0EE41D8-CF23-E7E9-3022-7E0AE8957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668" y="3921617"/>
            <a:ext cx="5928038" cy="191754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fa-IR" sz="1500" dirty="0" err="1"/>
              <a:t>Choosing</a:t>
            </a:r>
            <a:r>
              <a:rPr lang="fa-IR" sz="1500" dirty="0"/>
              <a:t> a </a:t>
            </a:r>
            <a:r>
              <a:rPr lang="fa-IR" sz="1500" dirty="0" err="1"/>
              <a:t>general</a:t>
            </a:r>
            <a:r>
              <a:rPr lang="fa-IR" sz="1500" dirty="0"/>
              <a:t> </a:t>
            </a:r>
            <a:r>
              <a:rPr lang="fa-IR" sz="1500" dirty="0" err="1"/>
              <a:t>purpose</a:t>
            </a:r>
            <a:r>
              <a:rPr lang="fa-IR" sz="1500" dirty="0"/>
              <a:t> </a:t>
            </a:r>
            <a:r>
              <a:rPr lang="fa-IR" sz="1500" dirty="0" err="1"/>
              <a:t>language</a:t>
            </a:r>
            <a:r>
              <a:rPr lang="fa-IR" sz="1500" dirty="0"/>
              <a:t> </a:t>
            </a:r>
            <a:r>
              <a:rPr lang="fa-IR" sz="1500" dirty="0" err="1"/>
              <a:t>model</a:t>
            </a:r>
            <a:r>
              <a:rPr lang="fa-IR" sz="1500" dirty="0"/>
              <a:t> </a:t>
            </a:r>
            <a:r>
              <a:rPr lang="fa-IR" sz="1500" dirty="0" err="1"/>
              <a:t>that</a:t>
            </a:r>
            <a:r>
              <a:rPr lang="fa-IR" sz="1500" dirty="0"/>
              <a:t> </a:t>
            </a:r>
            <a:r>
              <a:rPr lang="fa-IR" sz="1500" dirty="0" err="1"/>
              <a:t>support</a:t>
            </a:r>
            <a:r>
              <a:rPr lang="fa-IR" sz="1500" dirty="0"/>
              <a:t> </a:t>
            </a:r>
            <a:r>
              <a:rPr lang="fa-IR" sz="1500" dirty="0" err="1"/>
              <a:t>Persian</a:t>
            </a:r>
            <a:endParaRPr lang="fa-IR" sz="1500" dirty="0"/>
          </a:p>
          <a:p>
            <a:pPr>
              <a:lnSpc>
                <a:spcPct val="110000"/>
              </a:lnSpc>
            </a:pPr>
            <a:r>
              <a:rPr lang="fa-IR" sz="1500" dirty="0" err="1"/>
              <a:t>Almost</a:t>
            </a:r>
            <a:r>
              <a:rPr lang="fa-IR" sz="1500" dirty="0"/>
              <a:t> </a:t>
            </a:r>
            <a:r>
              <a:rPr lang="fa-IR" sz="1500" dirty="0" err="1"/>
              <a:t>all</a:t>
            </a:r>
            <a:r>
              <a:rPr lang="fa-IR" sz="1500" dirty="0"/>
              <a:t>  </a:t>
            </a:r>
            <a:r>
              <a:rPr lang="fa-IR" sz="1500" dirty="0" err="1"/>
              <a:t>baseline</a:t>
            </a:r>
            <a:r>
              <a:rPr lang="fa-IR" sz="1500" dirty="0"/>
              <a:t> </a:t>
            </a:r>
            <a:r>
              <a:rPr lang="fa-IR" sz="1500" dirty="0" err="1"/>
              <a:t>models</a:t>
            </a:r>
            <a:r>
              <a:rPr lang="fa-IR" sz="1500" dirty="0"/>
              <a:t> </a:t>
            </a:r>
            <a:r>
              <a:rPr lang="fa-IR" sz="1500" dirty="0" err="1"/>
              <a:t>had</a:t>
            </a:r>
            <a:r>
              <a:rPr lang="fa-IR" sz="1500" dirty="0"/>
              <a:t> </a:t>
            </a:r>
            <a:r>
              <a:rPr lang="fa-IR" sz="1500" dirty="0" err="1"/>
              <a:t>problems</a:t>
            </a:r>
            <a:r>
              <a:rPr lang="fa-IR" sz="1500" dirty="0"/>
              <a:t> </a:t>
            </a:r>
            <a:r>
              <a:rPr lang="fa-IR" sz="1500" dirty="0" err="1"/>
              <a:t>understanding</a:t>
            </a:r>
            <a:r>
              <a:rPr lang="fa-IR" sz="1500" dirty="0"/>
              <a:t> </a:t>
            </a:r>
            <a:r>
              <a:rPr lang="fa-IR" sz="1500" dirty="0" err="1"/>
              <a:t>Persian</a:t>
            </a:r>
            <a:endParaRPr lang="fa-IR" sz="1500" dirty="0"/>
          </a:p>
          <a:p>
            <a:pPr>
              <a:lnSpc>
                <a:spcPct val="110000"/>
              </a:lnSpc>
            </a:pPr>
            <a:r>
              <a:rPr lang="fa-IR" sz="1500" dirty="0" err="1"/>
              <a:t>Aya-expanse</a:t>
            </a:r>
            <a:r>
              <a:rPr lang="fa-IR" sz="1500" dirty="0"/>
              <a:t> </a:t>
            </a:r>
            <a:r>
              <a:rPr lang="fa-IR" sz="1500" dirty="0" err="1"/>
              <a:t>was</a:t>
            </a:r>
            <a:r>
              <a:rPr lang="fa-IR" sz="1500" dirty="0"/>
              <a:t> </a:t>
            </a:r>
            <a:r>
              <a:rPr lang="fa-IR" sz="1500" dirty="0" err="1"/>
              <a:t>an</a:t>
            </a:r>
            <a:r>
              <a:rPr lang="fa-IR" sz="1500" dirty="0"/>
              <a:t> </a:t>
            </a:r>
            <a:r>
              <a:rPr lang="fa-IR" sz="1500" dirty="0" err="1"/>
              <a:t>exception</a:t>
            </a:r>
            <a:r>
              <a:rPr lang="fa-IR" sz="1500" dirty="0"/>
              <a:t> </a:t>
            </a:r>
            <a:r>
              <a:rPr lang="fa-IR" sz="1500" dirty="0" err="1"/>
              <a:t>since</a:t>
            </a:r>
            <a:r>
              <a:rPr lang="fa-IR" sz="1500" dirty="0"/>
              <a:t> </a:t>
            </a:r>
            <a:r>
              <a:rPr lang="fa-IR" sz="1500" dirty="0" err="1"/>
              <a:t>it</a:t>
            </a:r>
            <a:r>
              <a:rPr lang="fa-IR" sz="1500" dirty="0"/>
              <a:t> </a:t>
            </a:r>
            <a:r>
              <a:rPr lang="fa-IR" sz="1500" dirty="0" err="1"/>
              <a:t>had</a:t>
            </a:r>
            <a:r>
              <a:rPr lang="fa-IR" sz="1500" dirty="0"/>
              <a:t> </a:t>
            </a:r>
            <a:r>
              <a:rPr lang="fa-IR" sz="1500" dirty="0" err="1"/>
              <a:t>been</a:t>
            </a:r>
            <a:r>
              <a:rPr lang="fa-IR" sz="1500" dirty="0"/>
              <a:t> </a:t>
            </a:r>
            <a:r>
              <a:rPr lang="fa-IR" sz="1500" dirty="0" err="1"/>
              <a:t>developed</a:t>
            </a:r>
            <a:r>
              <a:rPr lang="fa-IR" sz="1500" dirty="0"/>
              <a:t> </a:t>
            </a:r>
            <a:r>
              <a:rPr lang="fa-IR" sz="1500" dirty="0" err="1"/>
              <a:t>to</a:t>
            </a:r>
            <a:r>
              <a:rPr lang="fa-IR" sz="1500" dirty="0"/>
              <a:t> </a:t>
            </a:r>
            <a:r>
              <a:rPr lang="fa-IR" sz="1500" dirty="0" err="1"/>
              <a:t>be</a:t>
            </a:r>
            <a:endParaRPr lang="fa-IR" sz="1500" dirty="0"/>
          </a:p>
        </p:txBody>
      </p:sp>
    </p:spTree>
    <p:extLst>
      <p:ext uri="{BB962C8B-B14F-4D97-AF65-F5344CB8AC3E}">
        <p14:creationId xmlns:p14="http://schemas.microsoft.com/office/powerpoint/2010/main" val="1093174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63577F-2949-C31E-B4B0-5E250230F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7E4A51B-BAF6-3729-A2C0-89331F2FB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365" y="-318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40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BE7FA02C-9F73-ED9F-B709-6ABE36630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030311"/>
            <a:ext cx="8905141" cy="1359356"/>
          </a:xfrm>
        </p:spPr>
        <p:txBody>
          <a:bodyPr anchor="ctr">
            <a:normAutofit/>
          </a:bodyPr>
          <a:lstStyle/>
          <a:p>
            <a:r>
              <a:rPr lang="fa-IR" sz="4800"/>
              <a:t>Collecting Data</a:t>
            </a:r>
          </a:p>
        </p:txBody>
      </p:sp>
      <p:sp>
        <p:nvSpPr>
          <p:cNvPr id="3" name="نگهدارنده مکان محتوا 2">
            <a:extLst>
              <a:ext uri="{FF2B5EF4-FFF2-40B4-BE49-F238E27FC236}">
                <a16:creationId xmlns:a16="http://schemas.microsoft.com/office/drawing/2014/main" id="{08146353-7991-A69A-E4AC-6BB87D652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0493" y="2750127"/>
            <a:ext cx="5761449" cy="29648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a-IR" dirty="0" err="1"/>
              <a:t>Crawled</a:t>
            </a:r>
            <a:r>
              <a:rPr lang="fa-IR" dirty="0"/>
              <a:t> 100k </a:t>
            </a:r>
            <a:r>
              <a:rPr lang="fa-IR" dirty="0" err="1"/>
              <a:t>articles</a:t>
            </a:r>
            <a:r>
              <a:rPr lang="fa-IR" dirty="0"/>
              <a:t> </a:t>
            </a:r>
            <a:r>
              <a:rPr lang="fa-IR" dirty="0" err="1"/>
              <a:t>from</a:t>
            </a:r>
            <a:r>
              <a:rPr lang="fa-IR" dirty="0"/>
              <a:t> 11 </a:t>
            </a:r>
            <a:r>
              <a:rPr lang="fa-IR" dirty="0" err="1"/>
              <a:t>medical</a:t>
            </a:r>
            <a:r>
              <a:rPr lang="fa-IR" dirty="0"/>
              <a:t> </a:t>
            </a:r>
            <a:r>
              <a:rPr lang="fa-IR" dirty="0" err="1"/>
              <a:t>magazines</a:t>
            </a:r>
            <a:endParaRPr lang="fa-IR" dirty="0"/>
          </a:p>
          <a:p>
            <a:r>
              <a:rPr lang="fa-IR" err="1"/>
              <a:t>Crawled</a:t>
            </a:r>
            <a:r>
              <a:rPr lang="fa-IR" dirty="0"/>
              <a:t> 186k </a:t>
            </a:r>
            <a:r>
              <a:rPr lang="fa-IR" err="1"/>
              <a:t>free</a:t>
            </a:r>
            <a:r>
              <a:rPr lang="fa-IR" dirty="0"/>
              <a:t> </a:t>
            </a:r>
            <a:r>
              <a:rPr lang="fa-IR" err="1"/>
              <a:t>form</a:t>
            </a:r>
            <a:r>
              <a:rPr lang="fa-IR" dirty="0"/>
              <a:t> QA </a:t>
            </a:r>
            <a:r>
              <a:rPr lang="fa-IR" err="1"/>
              <a:t>pairs</a:t>
            </a:r>
            <a:r>
              <a:rPr lang="fa-IR" dirty="0"/>
              <a:t> </a:t>
            </a:r>
            <a:r>
              <a:rPr lang="fa-IR" err="1"/>
              <a:t>from</a:t>
            </a:r>
            <a:r>
              <a:rPr lang="fa-IR"/>
              <a:t> 4 </a:t>
            </a:r>
            <a:r>
              <a:rPr lang="fa-IR" dirty="0"/>
              <a:t>medical </a:t>
            </a:r>
            <a:r>
              <a:rPr lang="fa-IR" err="1"/>
              <a:t>forums</a:t>
            </a:r>
            <a:endParaRPr lang="fa-IR"/>
          </a:p>
          <a:p>
            <a:r>
              <a:rPr lang="fa-IR" dirty="0" err="1"/>
              <a:t>Crawling</a:t>
            </a:r>
            <a:r>
              <a:rPr lang="fa-IR" dirty="0"/>
              <a:t> </a:t>
            </a:r>
            <a:r>
              <a:rPr lang="fa-IR" dirty="0" err="1"/>
              <a:t>Codes</a:t>
            </a:r>
            <a:r>
              <a:rPr lang="fa-IR" dirty="0"/>
              <a:t> </a:t>
            </a:r>
            <a:r>
              <a:rPr lang="fa-IR" dirty="0" err="1"/>
              <a:t>were</a:t>
            </a:r>
            <a:r>
              <a:rPr lang="fa-IR" dirty="0"/>
              <a:t> </a:t>
            </a:r>
            <a:r>
              <a:rPr lang="fa-IR" dirty="0" err="1"/>
              <a:t>running</a:t>
            </a:r>
            <a:r>
              <a:rPr lang="fa-IR" dirty="0"/>
              <a:t> </a:t>
            </a:r>
            <a:r>
              <a:rPr lang="fa-IR" dirty="0" err="1"/>
              <a:t>about</a:t>
            </a:r>
            <a:r>
              <a:rPr lang="fa-IR" dirty="0"/>
              <a:t> </a:t>
            </a:r>
            <a:r>
              <a:rPr lang="fa-IR" dirty="0" err="1"/>
              <a:t>two</a:t>
            </a:r>
            <a:r>
              <a:rPr lang="fa-IR" dirty="0"/>
              <a:t> </a:t>
            </a:r>
            <a:r>
              <a:rPr lang="fa-IR" dirty="0" err="1"/>
              <a:t>weeks</a:t>
            </a:r>
            <a:endParaRPr lang="fa-IR" dirty="0"/>
          </a:p>
          <a:p>
            <a:r>
              <a:rPr lang="fa-IR" dirty="0" err="1"/>
              <a:t>Cleaning</a:t>
            </a:r>
            <a:r>
              <a:rPr lang="fa-IR" dirty="0"/>
              <a:t> </a:t>
            </a:r>
            <a:r>
              <a:rPr lang="fa-IR" dirty="0" err="1"/>
              <a:t>Process</a:t>
            </a:r>
            <a:r>
              <a:rPr lang="fa-IR" dirty="0"/>
              <a:t> </a:t>
            </a:r>
            <a:r>
              <a:rPr lang="fa-IR" dirty="0" err="1"/>
              <a:t>has</a:t>
            </a:r>
            <a:r>
              <a:rPr lang="fa-IR" dirty="0"/>
              <a:t> </a:t>
            </a:r>
            <a:r>
              <a:rPr lang="fa-IR" dirty="0" err="1"/>
              <a:t>been</a:t>
            </a:r>
            <a:r>
              <a:rPr lang="fa-IR" dirty="0"/>
              <a:t> </a:t>
            </a:r>
            <a:r>
              <a:rPr lang="fa-IR" dirty="0" err="1"/>
              <a:t>done</a:t>
            </a:r>
            <a:r>
              <a:rPr lang="fa-IR" dirty="0"/>
              <a:t> </a:t>
            </a:r>
            <a:r>
              <a:rPr lang="fa-IR" dirty="0" err="1"/>
              <a:t>after</a:t>
            </a:r>
            <a:r>
              <a:rPr lang="fa-IR" dirty="0"/>
              <a:t> </a:t>
            </a:r>
            <a:r>
              <a:rPr lang="fa-IR" dirty="0" err="1"/>
              <a:t>crawling</a:t>
            </a:r>
            <a:endParaRPr lang="fa-IR" dirty="0"/>
          </a:p>
          <a:p>
            <a:r>
              <a:rPr lang="fa-IR" dirty="0" err="1"/>
              <a:t>Created</a:t>
            </a:r>
            <a:r>
              <a:rPr lang="fa-IR" dirty="0"/>
              <a:t> </a:t>
            </a:r>
            <a:r>
              <a:rPr lang="fa-IR" dirty="0" err="1"/>
              <a:t>benchmark</a:t>
            </a:r>
            <a:r>
              <a:rPr lang="fa-IR" dirty="0"/>
              <a:t> </a:t>
            </a:r>
            <a:r>
              <a:rPr lang="fa-IR" dirty="0" err="1"/>
              <a:t>by</a:t>
            </a:r>
            <a:r>
              <a:rPr lang="fa-IR" dirty="0"/>
              <a:t> </a:t>
            </a:r>
            <a:r>
              <a:rPr lang="fa-IR" dirty="0" err="1"/>
              <a:t>translating</a:t>
            </a:r>
            <a:r>
              <a:rPr lang="fa-IR" dirty="0"/>
              <a:t> </a:t>
            </a:r>
            <a:r>
              <a:rPr lang="fa-IR" dirty="0" err="1"/>
              <a:t>from</a:t>
            </a:r>
            <a:r>
              <a:rPr lang="fa-IR" dirty="0"/>
              <a:t> </a:t>
            </a:r>
            <a:r>
              <a:rPr lang="fa-IR" dirty="0" err="1"/>
              <a:t>english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916936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0300B1B-B85E-D514-C6B4-30126EBBC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2CC8CFE-31F3-0DA5-6AC8-9A74170BF3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V="1">
            <a:off x="-58916" y="-105868"/>
            <a:ext cx="12309832" cy="7069736"/>
          </a:xfrm>
          <a:custGeom>
            <a:avLst/>
            <a:gdLst>
              <a:gd name="connsiteX0" fmla="*/ 119689 w 12309832"/>
              <a:gd name="connsiteY0" fmla="*/ 7069736 h 7069736"/>
              <a:gd name="connsiteX1" fmla="*/ 12309832 w 12309832"/>
              <a:gd name="connsiteY1" fmla="*/ 6856956 h 7069736"/>
              <a:gd name="connsiteX2" fmla="*/ 12190143 w 12309832"/>
              <a:gd name="connsiteY2" fmla="*/ 0 h 7069736"/>
              <a:gd name="connsiteX3" fmla="*/ 0 w 12309832"/>
              <a:gd name="connsiteY3" fmla="*/ 212780 h 7069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09832" h="7069736">
                <a:moveTo>
                  <a:pt x="119689" y="7069736"/>
                </a:moveTo>
                <a:lnTo>
                  <a:pt x="12309832" y="6856956"/>
                </a:lnTo>
                <a:lnTo>
                  <a:pt x="12190143" y="0"/>
                </a:lnTo>
                <a:lnTo>
                  <a:pt x="0" y="212780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9FB23B6-1F34-5B6A-2697-938FB355B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2571" y="734156"/>
            <a:ext cx="10617872" cy="538161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E0719E68-7A0D-894A-FA33-AC97CE3F3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817" y="1143001"/>
            <a:ext cx="7917227" cy="574157"/>
          </a:xfrm>
        </p:spPr>
        <p:txBody>
          <a:bodyPr anchor="t">
            <a:normAutofit/>
          </a:bodyPr>
          <a:lstStyle/>
          <a:p>
            <a:pPr algn="ctr"/>
            <a:r>
              <a:rPr lang="fa-IR" sz="2800" dirty="0" err="1"/>
              <a:t>Collected</a:t>
            </a:r>
            <a:r>
              <a:rPr lang="fa-IR" sz="2800" dirty="0"/>
              <a:t> </a:t>
            </a:r>
            <a:r>
              <a:rPr lang="fa-IR" sz="2800" dirty="0" err="1"/>
              <a:t>data</a:t>
            </a:r>
            <a:r>
              <a:rPr lang="fa-IR" sz="2800" dirty="0"/>
              <a:t> </a:t>
            </a:r>
            <a:r>
              <a:rPr lang="fa-IR" sz="2800" dirty="0" err="1"/>
              <a:t>summary</a:t>
            </a:r>
          </a:p>
        </p:txBody>
      </p:sp>
      <p:graphicFrame>
        <p:nvGraphicFramePr>
          <p:cNvPr id="5" name="نگهدارنده مکان محتوا 2">
            <a:extLst>
              <a:ext uri="{FF2B5EF4-FFF2-40B4-BE49-F238E27FC236}">
                <a16:creationId xmlns:a16="http://schemas.microsoft.com/office/drawing/2014/main" id="{73A70217-2C12-A78F-2E2B-D490340510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1368273"/>
              </p:ext>
            </p:extLst>
          </p:nvPr>
        </p:nvGraphicFramePr>
        <p:xfrm>
          <a:off x="1913862" y="2400300"/>
          <a:ext cx="8378456" cy="29478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0176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300B1B-B85E-D514-C6B4-30126EBBC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76B30C7-A5EB-62EB-4D41-ED75213FA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V="1">
            <a:off x="-23526" y="-55243"/>
            <a:ext cx="6407229" cy="3479258"/>
          </a:xfrm>
          <a:custGeom>
            <a:avLst/>
            <a:gdLst>
              <a:gd name="connsiteX0" fmla="*/ 53408 w 6407229"/>
              <a:gd name="connsiteY0" fmla="*/ 3479258 h 3479258"/>
              <a:gd name="connsiteX1" fmla="*/ 6407229 w 6407229"/>
              <a:gd name="connsiteY1" fmla="*/ 3368352 h 3479258"/>
              <a:gd name="connsiteX2" fmla="*/ 2513111 w 6407229"/>
              <a:gd name="connsiteY2" fmla="*/ 401274 h 3479258"/>
              <a:gd name="connsiteX3" fmla="*/ 2468202 w 6407229"/>
              <a:gd name="connsiteY3" fmla="*/ 369022 h 3479258"/>
              <a:gd name="connsiteX4" fmla="*/ 1321050 w 6407229"/>
              <a:gd name="connsiteY4" fmla="*/ 613 h 3479258"/>
              <a:gd name="connsiteX5" fmla="*/ 1196752 w 6407229"/>
              <a:gd name="connsiteY5" fmla="*/ 1245 h 3479258"/>
              <a:gd name="connsiteX6" fmla="*/ 56027 w 6407229"/>
              <a:gd name="connsiteY6" fmla="*/ 376720 h 3479258"/>
              <a:gd name="connsiteX7" fmla="*/ 0 w 6407229"/>
              <a:gd name="connsiteY7" fmla="*/ 419528 h 3479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07229" h="3479258">
                <a:moveTo>
                  <a:pt x="53408" y="3479258"/>
                </a:moveTo>
                <a:lnTo>
                  <a:pt x="6407229" y="3368352"/>
                </a:lnTo>
                <a:lnTo>
                  <a:pt x="2513111" y="401274"/>
                </a:lnTo>
                <a:lnTo>
                  <a:pt x="2468202" y="369022"/>
                </a:lnTo>
                <a:cubicBezTo>
                  <a:pt x="2117855" y="130665"/>
                  <a:pt x="1719063" y="10130"/>
                  <a:pt x="1321050" y="613"/>
                </a:cubicBezTo>
                <a:cubicBezTo>
                  <a:pt x="1279590" y="-379"/>
                  <a:pt x="1238139" y="-165"/>
                  <a:pt x="1196752" y="1245"/>
                </a:cubicBezTo>
                <a:cubicBezTo>
                  <a:pt x="793227" y="14995"/>
                  <a:pt x="395796" y="142529"/>
                  <a:pt x="56027" y="376720"/>
                </a:cubicBezTo>
                <a:lnTo>
                  <a:pt x="0" y="419528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6A3A8CAB-FB46-07E0-9226-B64DEFF80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35509"/>
            <a:ext cx="4766932" cy="3151535"/>
          </a:xfrm>
        </p:spPr>
        <p:txBody>
          <a:bodyPr anchor="t">
            <a:normAutofit/>
          </a:bodyPr>
          <a:lstStyle/>
          <a:p>
            <a:r>
              <a:rPr lang="fa-IR" sz="4800"/>
              <a:t>Training</a:t>
            </a:r>
          </a:p>
        </p:txBody>
      </p:sp>
      <p:sp>
        <p:nvSpPr>
          <p:cNvPr id="3" name="نگهدارنده مکان محتوا 2">
            <a:extLst>
              <a:ext uri="{FF2B5EF4-FFF2-40B4-BE49-F238E27FC236}">
                <a16:creationId xmlns:a16="http://schemas.microsoft.com/office/drawing/2014/main" id="{88CF4456-2B78-BB70-1E92-AA85001B8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6732" y="1451294"/>
            <a:ext cx="4072268" cy="4263705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fa-IR" sz="1500" dirty="0" err="1"/>
              <a:t>Training</a:t>
            </a:r>
            <a:r>
              <a:rPr lang="fa-IR" sz="1500" dirty="0"/>
              <a:t> </a:t>
            </a:r>
            <a:r>
              <a:rPr lang="fa-IR" sz="1500" dirty="0" err="1"/>
              <a:t>on</a:t>
            </a:r>
            <a:r>
              <a:rPr lang="fa-IR" sz="1500" dirty="0"/>
              <a:t> </a:t>
            </a:r>
            <a:r>
              <a:rPr lang="fa-IR" sz="1500" dirty="0" err="1"/>
              <a:t>collected</a:t>
            </a:r>
            <a:r>
              <a:rPr lang="fa-IR" sz="1500" dirty="0"/>
              <a:t> </a:t>
            </a:r>
            <a:r>
              <a:rPr lang="fa-IR" sz="1500" dirty="0" err="1"/>
              <a:t>data</a:t>
            </a:r>
            <a:r>
              <a:rPr lang="fa-IR" sz="1500" dirty="0"/>
              <a:t>  </a:t>
            </a:r>
            <a:r>
              <a:rPr lang="fa-IR" sz="1500" dirty="0" err="1"/>
              <a:t>lasted</a:t>
            </a:r>
            <a:r>
              <a:rPr lang="fa-IR" sz="1500" dirty="0"/>
              <a:t> </a:t>
            </a:r>
            <a:r>
              <a:rPr lang="fa-IR" sz="1500" dirty="0" err="1"/>
              <a:t>for</a:t>
            </a:r>
            <a:r>
              <a:rPr lang="fa-IR" sz="1500" dirty="0"/>
              <a:t> 20 </a:t>
            </a:r>
            <a:r>
              <a:rPr lang="fa-IR" sz="1500" dirty="0" err="1"/>
              <a:t>hours</a:t>
            </a:r>
            <a:r>
              <a:rPr lang="fa-IR" sz="1500" dirty="0"/>
              <a:t> </a:t>
            </a:r>
            <a:r>
              <a:rPr lang="fa-IR" sz="1500" dirty="0" err="1"/>
              <a:t>using</a:t>
            </a:r>
            <a:r>
              <a:rPr lang="fa-IR" sz="1500" dirty="0"/>
              <a:t> a A100 GPU</a:t>
            </a:r>
          </a:p>
          <a:p>
            <a:pPr>
              <a:lnSpc>
                <a:spcPct val="110000"/>
              </a:lnSpc>
            </a:pPr>
            <a:r>
              <a:rPr lang="fa-IR" sz="1500" dirty="0" err="1"/>
              <a:t>About</a:t>
            </a:r>
            <a:r>
              <a:rPr lang="fa-IR" sz="1500" dirty="0"/>
              <a:t> 3300 </a:t>
            </a:r>
            <a:r>
              <a:rPr lang="fa-IR" sz="1500" dirty="0" err="1"/>
              <a:t>questions</a:t>
            </a:r>
            <a:r>
              <a:rPr lang="fa-IR" sz="1500" dirty="0"/>
              <a:t> </a:t>
            </a:r>
            <a:r>
              <a:rPr lang="fa-IR" sz="1500" dirty="0" err="1"/>
              <a:t>should</a:t>
            </a:r>
            <a:r>
              <a:rPr lang="fa-IR" sz="1500" dirty="0"/>
              <a:t> </a:t>
            </a:r>
            <a:r>
              <a:rPr lang="fa-IR" sz="1500" dirty="0" err="1"/>
              <a:t>be</a:t>
            </a:r>
            <a:r>
              <a:rPr lang="fa-IR" sz="1500" dirty="0"/>
              <a:t> </a:t>
            </a:r>
            <a:r>
              <a:rPr lang="fa-IR" sz="1500" dirty="0" err="1"/>
              <a:t>asked</a:t>
            </a:r>
            <a:r>
              <a:rPr lang="fa-IR" sz="1500" dirty="0"/>
              <a:t> </a:t>
            </a:r>
            <a:r>
              <a:rPr lang="fa-IR" sz="1500" dirty="0" err="1"/>
              <a:t>for</a:t>
            </a:r>
            <a:r>
              <a:rPr lang="fa-IR" sz="1500" dirty="0"/>
              <a:t> </a:t>
            </a:r>
            <a:r>
              <a:rPr lang="fa-IR" sz="1500" dirty="0" err="1"/>
              <a:t>testing</a:t>
            </a:r>
            <a:r>
              <a:rPr lang="fa-IR" sz="1500" dirty="0"/>
              <a:t> </a:t>
            </a:r>
            <a:r>
              <a:rPr lang="fa-IR" sz="1500" dirty="0" err="1">
                <a:ea typeface="+mn-lt"/>
                <a:cs typeface="+mn-lt"/>
              </a:rPr>
              <a:t>using</a:t>
            </a:r>
            <a:r>
              <a:rPr lang="fa-IR" sz="1500" dirty="0">
                <a:ea typeface="+mn-lt"/>
                <a:cs typeface="+mn-lt"/>
              </a:rPr>
              <a:t> a L4 </a:t>
            </a:r>
            <a:r>
              <a:rPr lang="fa-IR" sz="1500" dirty="0" err="1">
                <a:ea typeface="+mn-lt"/>
                <a:cs typeface="+mn-lt"/>
              </a:rPr>
              <a:t>gpu</a:t>
            </a:r>
            <a:endParaRPr lang="fa-IR" sz="1500" dirty="0" err="1"/>
          </a:p>
          <a:p>
            <a:pPr>
              <a:lnSpc>
                <a:spcPct val="110000"/>
              </a:lnSpc>
            </a:pPr>
            <a:r>
              <a:rPr lang="fa-IR" sz="1500" dirty="0" err="1"/>
              <a:t>Each</a:t>
            </a:r>
            <a:r>
              <a:rPr lang="fa-IR" sz="1500" dirty="0"/>
              <a:t> </a:t>
            </a:r>
            <a:r>
              <a:rPr lang="fa-IR" sz="1500" dirty="0" err="1"/>
              <a:t>question</a:t>
            </a:r>
            <a:r>
              <a:rPr lang="fa-IR" sz="1500" dirty="0"/>
              <a:t> </a:t>
            </a:r>
            <a:r>
              <a:rPr lang="fa-IR" sz="1500" dirty="0" err="1"/>
              <a:t>answered</a:t>
            </a:r>
            <a:r>
              <a:rPr lang="fa-IR" sz="1500" dirty="0"/>
              <a:t> </a:t>
            </a:r>
            <a:r>
              <a:rPr lang="fa-IR" sz="1500" dirty="0" err="1"/>
              <a:t>in</a:t>
            </a:r>
            <a:r>
              <a:rPr lang="fa-IR" sz="1500" dirty="0"/>
              <a:t> </a:t>
            </a:r>
            <a:r>
              <a:rPr lang="fa-IR" sz="1500" dirty="0" err="1"/>
              <a:t>about</a:t>
            </a:r>
            <a:r>
              <a:rPr lang="fa-IR" sz="1500" dirty="0"/>
              <a:t> 10s</a:t>
            </a:r>
          </a:p>
          <a:p>
            <a:pPr>
              <a:lnSpc>
                <a:spcPct val="110000"/>
              </a:lnSpc>
            </a:pPr>
            <a:r>
              <a:rPr lang="fa-IR" sz="1500" dirty="0" err="1"/>
              <a:t>In</a:t>
            </a:r>
            <a:r>
              <a:rPr lang="fa-IR" sz="1500" dirty="0"/>
              <a:t> </a:t>
            </a:r>
            <a:r>
              <a:rPr lang="fa-IR" sz="1500" dirty="0" err="1"/>
              <a:t>colab</a:t>
            </a:r>
            <a:r>
              <a:rPr lang="fa-IR" sz="1500" dirty="0"/>
              <a:t> </a:t>
            </a:r>
            <a:r>
              <a:rPr lang="fa-IR" sz="1500" dirty="0" err="1"/>
              <a:t>plans</a:t>
            </a:r>
            <a:r>
              <a:rPr lang="fa-IR" sz="1500" dirty="0"/>
              <a:t>, A100 </a:t>
            </a:r>
            <a:r>
              <a:rPr lang="fa-IR" sz="1500" dirty="0" err="1"/>
              <a:t>costs</a:t>
            </a:r>
            <a:r>
              <a:rPr lang="fa-IR" sz="1500" dirty="0"/>
              <a:t> </a:t>
            </a:r>
            <a:r>
              <a:rPr lang="fa-IR" sz="1500" dirty="0" err="1"/>
              <a:t>about</a:t>
            </a:r>
            <a:r>
              <a:rPr lang="fa-IR" sz="1500" dirty="0"/>
              <a:t> $1 </a:t>
            </a:r>
            <a:r>
              <a:rPr lang="fa-IR" sz="1500" dirty="0" err="1"/>
              <a:t>per</a:t>
            </a:r>
            <a:r>
              <a:rPr lang="fa-IR" sz="1500" dirty="0"/>
              <a:t> </a:t>
            </a:r>
            <a:r>
              <a:rPr lang="fa-IR" sz="1500" dirty="0" err="1"/>
              <a:t>hour</a:t>
            </a:r>
            <a:r>
              <a:rPr lang="fa-IR" sz="1500" dirty="0"/>
              <a:t> </a:t>
            </a:r>
            <a:r>
              <a:rPr lang="fa-IR" sz="1500" dirty="0" err="1"/>
              <a:t>and</a:t>
            </a:r>
            <a:r>
              <a:rPr lang="fa-IR" sz="1500" dirty="0"/>
              <a:t> L4 </a:t>
            </a:r>
            <a:r>
              <a:rPr lang="fa-IR" sz="1500" dirty="0" err="1"/>
              <a:t>costs</a:t>
            </a:r>
            <a:r>
              <a:rPr lang="fa-IR" sz="1500" dirty="0"/>
              <a:t> </a:t>
            </a:r>
            <a:r>
              <a:rPr lang="fa-IR" sz="1500" dirty="0" err="1"/>
              <a:t>about</a:t>
            </a:r>
            <a:r>
              <a:rPr lang="fa-IR" sz="1500" dirty="0"/>
              <a:t> $0.5 </a:t>
            </a:r>
            <a:r>
              <a:rPr lang="fa-IR" sz="1500" dirty="0" err="1"/>
              <a:t>per</a:t>
            </a:r>
            <a:r>
              <a:rPr lang="fa-IR" sz="1500" dirty="0"/>
              <a:t> </a:t>
            </a:r>
            <a:r>
              <a:rPr lang="fa-IR" sz="1500" dirty="0" err="1"/>
              <a:t>hour</a:t>
            </a:r>
            <a:endParaRPr lang="fa-IR" sz="1500" dirty="0"/>
          </a:p>
          <a:p>
            <a:pPr>
              <a:lnSpc>
                <a:spcPct val="110000"/>
              </a:lnSpc>
            </a:pPr>
            <a:r>
              <a:rPr lang="fa-IR" sz="1500" dirty="0" err="1"/>
              <a:t>Therefore</a:t>
            </a:r>
            <a:r>
              <a:rPr lang="fa-IR" sz="1500" dirty="0"/>
              <a:t> </a:t>
            </a:r>
            <a:r>
              <a:rPr lang="fa-IR" sz="1500" dirty="0" err="1"/>
              <a:t>Each</a:t>
            </a:r>
            <a:r>
              <a:rPr lang="fa-IR" sz="1500" dirty="0"/>
              <a:t> </a:t>
            </a:r>
            <a:r>
              <a:rPr lang="fa-IR" sz="1500" dirty="0" err="1"/>
              <a:t>train</a:t>
            </a:r>
            <a:r>
              <a:rPr lang="fa-IR" sz="1500" dirty="0"/>
              <a:t> </a:t>
            </a:r>
            <a:r>
              <a:rPr lang="fa-IR" sz="1500" dirty="0" err="1"/>
              <a:t>and</a:t>
            </a:r>
            <a:r>
              <a:rPr lang="fa-IR" sz="1500" dirty="0"/>
              <a:t> </a:t>
            </a:r>
            <a:r>
              <a:rPr lang="fa-IR" sz="1500" dirty="0" err="1"/>
              <a:t>test</a:t>
            </a:r>
            <a:r>
              <a:rPr lang="fa-IR" sz="1500" dirty="0"/>
              <a:t> </a:t>
            </a:r>
            <a:r>
              <a:rPr lang="fa-IR" sz="1500" dirty="0" err="1"/>
              <a:t>iteration</a:t>
            </a:r>
            <a:r>
              <a:rPr lang="fa-IR" sz="1500" dirty="0"/>
              <a:t> </a:t>
            </a:r>
            <a:r>
              <a:rPr lang="fa-IR" sz="1500" dirty="0" err="1"/>
              <a:t>costed</a:t>
            </a:r>
            <a:r>
              <a:rPr lang="fa-IR" sz="1500" dirty="0"/>
              <a:t> </a:t>
            </a:r>
            <a:r>
              <a:rPr lang="fa-IR" sz="1500" dirty="0" err="1"/>
              <a:t>about</a:t>
            </a:r>
            <a:r>
              <a:rPr lang="fa-IR" sz="1500" dirty="0"/>
              <a:t> $25 </a:t>
            </a:r>
            <a:r>
              <a:rPr lang="fa-IR" sz="1500" dirty="0" err="1"/>
              <a:t>for</a:t>
            </a:r>
            <a:r>
              <a:rPr lang="fa-IR" sz="1500" dirty="0"/>
              <a:t> </a:t>
            </a:r>
            <a:r>
              <a:rPr lang="fa-IR" sz="1500" dirty="0" err="1"/>
              <a:t>us</a:t>
            </a:r>
            <a:endParaRPr lang="fa-IR" sz="1500" dirty="0"/>
          </a:p>
          <a:p>
            <a:pPr>
              <a:lnSpc>
                <a:spcPct val="110000"/>
              </a:lnSpc>
            </a:pPr>
            <a:r>
              <a:rPr lang="fa-IR" sz="1500" dirty="0" err="1"/>
              <a:t>We</a:t>
            </a:r>
            <a:r>
              <a:rPr lang="fa-IR" sz="1500" dirty="0"/>
              <a:t> </a:t>
            </a:r>
            <a:r>
              <a:rPr lang="fa-IR" sz="1500" dirty="0" err="1"/>
              <a:t>found</a:t>
            </a:r>
            <a:r>
              <a:rPr lang="fa-IR" sz="1500" dirty="0"/>
              <a:t> </a:t>
            </a:r>
            <a:r>
              <a:rPr lang="fa-IR" sz="1500" dirty="0" err="1"/>
              <a:t>the</a:t>
            </a:r>
            <a:r>
              <a:rPr lang="fa-IR" sz="1500" dirty="0"/>
              <a:t> </a:t>
            </a:r>
            <a:r>
              <a:rPr lang="fa-IR" sz="1500" dirty="0" err="1"/>
              <a:t>best</a:t>
            </a:r>
            <a:r>
              <a:rPr lang="fa-IR" sz="1500" dirty="0"/>
              <a:t> </a:t>
            </a:r>
            <a:r>
              <a:rPr lang="fa-IR" sz="1500" dirty="0" err="1"/>
              <a:t>hyperparameters</a:t>
            </a:r>
            <a:r>
              <a:rPr lang="fa-IR" sz="1500" dirty="0"/>
              <a:t> </a:t>
            </a:r>
            <a:r>
              <a:rPr lang="fa-IR" sz="1500" dirty="0" err="1"/>
              <a:t>in</a:t>
            </a:r>
            <a:r>
              <a:rPr lang="fa-IR" sz="1500" dirty="0"/>
              <a:t> 6 </a:t>
            </a:r>
            <a:r>
              <a:rPr lang="fa-IR" sz="1500" dirty="0" err="1"/>
              <a:t>iterations</a:t>
            </a:r>
            <a:endParaRPr lang="fa-IR" sz="1500" dirty="0"/>
          </a:p>
        </p:txBody>
      </p:sp>
    </p:spTree>
    <p:extLst>
      <p:ext uri="{BB962C8B-B14F-4D97-AF65-F5344CB8AC3E}">
        <p14:creationId xmlns:p14="http://schemas.microsoft.com/office/powerpoint/2010/main" val="1227339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A9CFFA7-C241-A519-5975-9F33C73C6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17081"/>
            <a:ext cx="8886884" cy="953669"/>
          </a:xfrm>
        </p:spPr>
        <p:txBody>
          <a:bodyPr/>
          <a:lstStyle/>
          <a:p>
            <a:r>
              <a:rPr lang="fa-IR" dirty="0" err="1"/>
              <a:t>hyperparameters</a:t>
            </a:r>
          </a:p>
        </p:txBody>
      </p:sp>
      <p:graphicFrame>
        <p:nvGraphicFramePr>
          <p:cNvPr id="4" name="نگهدارنده مکان محتوا 3">
            <a:extLst>
              <a:ext uri="{FF2B5EF4-FFF2-40B4-BE49-F238E27FC236}">
                <a16:creationId xmlns:a16="http://schemas.microsoft.com/office/drawing/2014/main" id="{043BE176-66F4-57EE-F9D1-5A04A55D73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1590898"/>
              </p:ext>
            </p:extLst>
          </p:nvPr>
        </p:nvGraphicFramePr>
        <p:xfrm>
          <a:off x="1576789" y="1438910"/>
          <a:ext cx="8458116" cy="51206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819372">
                  <a:extLst>
                    <a:ext uri="{9D8B030D-6E8A-4147-A177-3AD203B41FA5}">
                      <a16:colId xmlns:a16="http://schemas.microsoft.com/office/drawing/2014/main" val="1135010460"/>
                    </a:ext>
                  </a:extLst>
                </a:gridCol>
                <a:gridCol w="2819372">
                  <a:extLst>
                    <a:ext uri="{9D8B030D-6E8A-4147-A177-3AD203B41FA5}">
                      <a16:colId xmlns:a16="http://schemas.microsoft.com/office/drawing/2014/main" val="2414836879"/>
                    </a:ext>
                  </a:extLst>
                </a:gridCol>
                <a:gridCol w="2819372">
                  <a:extLst>
                    <a:ext uri="{9D8B030D-6E8A-4147-A177-3AD203B41FA5}">
                      <a16:colId xmlns:a16="http://schemas.microsoft.com/office/drawing/2014/main" val="1770874701"/>
                    </a:ext>
                  </a:extLst>
                </a:gridCol>
              </a:tblGrid>
              <a:tr h="347044">
                <a:tc>
                  <a:txBody>
                    <a:bodyPr/>
                    <a:lstStyle/>
                    <a:p>
                      <a:pPr algn="ctr" rtl="1"/>
                      <a:r>
                        <a:rPr lang="fa-IR" dirty="0" err="1"/>
                        <a:t>Instruction-tuning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rtl="1">
                        <a:buNone/>
                      </a:pPr>
                      <a:r>
                        <a:rPr lang="fa-IR" err="1"/>
                        <a:t>Fine-tuning</a:t>
                      </a:r>
                      <a:endParaRPr lang="fa-IR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622538"/>
                  </a:ext>
                </a:extLst>
              </a:tr>
              <a:tr h="347044">
                <a:tc>
                  <a:txBody>
                    <a:bodyPr/>
                    <a:lstStyle/>
                    <a:p>
                      <a:pPr rtl="1"/>
                      <a:r>
                        <a:rPr lang="fa-IR" dirty="0" err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All</a:t>
                      </a:r>
                      <a:r>
                        <a:rPr lang="fa-IR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fa-IR" dirty="0" err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linear</a:t>
                      </a:r>
                      <a:r>
                        <a:rPr lang="fa-IR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fa-IR" dirty="0" err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layers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dirty="0" err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All</a:t>
                      </a:r>
                      <a:r>
                        <a:rPr lang="fa-IR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fa-IR" dirty="0" err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linear</a:t>
                      </a:r>
                      <a:r>
                        <a:rPr lang="fa-IR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fa-IR" dirty="0" err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layers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fa-IR" sz="1800" b="0" i="0" u="none" strike="noStrike" noProof="0" dirty="0" err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Target</a:t>
                      </a:r>
                      <a:r>
                        <a:rPr lang="fa-IR" sz="1800" b="0" i="0" u="none" strike="noStrike" noProof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fa-IR" sz="1800" b="0" i="0" u="none" strike="noStrike" noProof="0" dirty="0" err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modules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192388"/>
                  </a:ext>
                </a:extLst>
              </a:tr>
              <a:tr h="347044"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fa-IR" b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fa-IR" b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fa-IR" sz="1800" b="0" i="0" u="none" strike="noStrike" noProof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Neue Haas Grotesk Text Pro"/>
                        </a:rPr>
                        <a:t>Batch</a:t>
                      </a:r>
                      <a:r>
                        <a:rPr lang="fa-IR" sz="1800" b="0" i="0" u="none" strike="noStrike" noProof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Neue Haas Grotesk Text Pro"/>
                        </a:rPr>
                        <a:t> </a:t>
                      </a:r>
                      <a:r>
                        <a:rPr lang="fa-IR" sz="1800" b="0" i="0" u="none" strike="noStrike" noProof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Neue Haas Grotesk Text Pro"/>
                        </a:rPr>
                        <a:t>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729625"/>
                  </a:ext>
                </a:extLst>
              </a:tr>
              <a:tr h="347044">
                <a:tc>
                  <a:txBody>
                    <a:bodyPr/>
                    <a:lstStyle/>
                    <a:p>
                      <a:pPr rtl="1"/>
                      <a:r>
                        <a:rPr lang="fa-IR" sz="18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8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800" err="1"/>
                        <a:t>Gradient</a:t>
                      </a:r>
                      <a:r>
                        <a:rPr lang="fa-IR" sz="1800" dirty="0"/>
                        <a:t> </a:t>
                      </a:r>
                      <a:r>
                        <a:rPr lang="fa-IR" sz="1800" err="1"/>
                        <a:t>accumualtion</a:t>
                      </a:r>
                      <a:endParaRPr lang="fa-IR" sz="1800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6220531"/>
                  </a:ext>
                </a:extLst>
              </a:tr>
              <a:tr h="347044">
                <a:tc>
                  <a:txBody>
                    <a:bodyPr/>
                    <a:lstStyle/>
                    <a:p>
                      <a:pPr rtl="1"/>
                      <a:r>
                        <a:rPr lang="fa-IR" dirty="0" err="1"/>
                        <a:t>AdamW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dirty="0" err="1"/>
                        <a:t>AdamW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dirty="0" err="1"/>
                        <a:t>Optimizer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639573"/>
                  </a:ext>
                </a:extLst>
              </a:tr>
              <a:tr h="347044">
                <a:tc>
                  <a:txBody>
                    <a:bodyPr/>
                    <a:lstStyle/>
                    <a:p>
                      <a:pPr rtl="1"/>
                      <a:r>
                        <a:rPr lang="fa-IR"/>
                        <a:t>0.0005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dirty="0"/>
                        <a:t>0.0005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err="1"/>
                        <a:t>Learning</a:t>
                      </a:r>
                      <a:r>
                        <a:rPr lang="fa-IR" dirty="0"/>
                        <a:t> </a:t>
                      </a:r>
                      <a:r>
                        <a:rPr lang="fa-IR" err="1"/>
                        <a:t>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456860"/>
                  </a:ext>
                </a:extLst>
              </a:tr>
              <a:tr h="347044">
                <a:tc>
                  <a:txBody>
                    <a:bodyPr/>
                    <a:lstStyle/>
                    <a:p>
                      <a:pPr rtl="1"/>
                      <a:r>
                        <a:rPr lang="fa-IR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err="1"/>
                        <a:t>Max</a:t>
                      </a:r>
                      <a:r>
                        <a:rPr lang="fa-IR" dirty="0"/>
                        <a:t> </a:t>
                      </a:r>
                      <a:r>
                        <a:rPr lang="fa-IR" err="1"/>
                        <a:t>gradient</a:t>
                      </a:r>
                      <a:r>
                        <a:rPr lang="fa-IR" dirty="0"/>
                        <a:t> </a:t>
                      </a:r>
                      <a:r>
                        <a:rPr lang="fa-IR" err="1"/>
                        <a:t>norm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8522478"/>
                  </a:ext>
                </a:extLst>
              </a:tr>
              <a:tr h="347044">
                <a:tc>
                  <a:txBody>
                    <a:bodyPr/>
                    <a:lstStyle/>
                    <a:p>
                      <a:pPr rtl="1"/>
                      <a:r>
                        <a:rPr lang="fa-IR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err="1"/>
                        <a:t>Warm</a:t>
                      </a:r>
                      <a:r>
                        <a:rPr lang="fa-IR" dirty="0"/>
                        <a:t> </a:t>
                      </a:r>
                      <a:r>
                        <a:rPr lang="fa-IR" err="1"/>
                        <a:t>up</a:t>
                      </a:r>
                      <a:r>
                        <a:rPr lang="fa-IR" dirty="0"/>
                        <a:t> </a:t>
                      </a:r>
                      <a:r>
                        <a:rPr lang="fa-IR" err="1"/>
                        <a:t>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900454"/>
                  </a:ext>
                </a:extLst>
              </a:tr>
              <a:tr h="347044">
                <a:tc>
                  <a:txBody>
                    <a:bodyPr/>
                    <a:lstStyle/>
                    <a:p>
                      <a:pPr rtl="1"/>
                      <a:r>
                        <a:rPr lang="fa-IR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err="1"/>
                        <a:t>Weight</a:t>
                      </a:r>
                      <a:r>
                        <a:rPr lang="fa-IR" dirty="0"/>
                        <a:t> </a:t>
                      </a:r>
                      <a:r>
                        <a:rPr lang="fa-IR" err="1"/>
                        <a:t>decay</a:t>
                      </a:r>
                      <a:r>
                        <a:rPr lang="fa-IR" dirty="0"/>
                        <a:t> </a:t>
                      </a:r>
                      <a:r>
                        <a:rPr lang="fa-IR" err="1"/>
                        <a:t>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355918"/>
                  </a:ext>
                </a:extLst>
              </a:tr>
              <a:tr h="347044">
                <a:tc>
                  <a:txBody>
                    <a:bodyPr/>
                    <a:lstStyle/>
                    <a:p>
                      <a:pPr rtl="1"/>
                      <a:r>
                        <a:rPr lang="fa-IR" dirty="0"/>
                        <a:t>1024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dirty="0"/>
                        <a:t>1024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dirty="0" err="1"/>
                        <a:t>Max</a:t>
                      </a:r>
                      <a:r>
                        <a:rPr lang="fa-IR" dirty="0"/>
                        <a:t> </a:t>
                      </a:r>
                      <a:r>
                        <a:rPr lang="fa-IR" dirty="0" err="1"/>
                        <a:t>Context</a:t>
                      </a:r>
                      <a:r>
                        <a:rPr lang="fa-IR" dirty="0"/>
                        <a:t> </a:t>
                      </a:r>
                      <a:r>
                        <a:rPr lang="fa-IR" dirty="0" err="1"/>
                        <a:t>length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175319"/>
                  </a:ext>
                </a:extLst>
              </a:tr>
              <a:tr h="347044">
                <a:tc>
                  <a:txBody>
                    <a:bodyPr/>
                    <a:lstStyle/>
                    <a:p>
                      <a:pPr rtl="1"/>
                      <a:r>
                        <a:rPr lang="fa-IR" dirty="0" err="1"/>
                        <a:t>Left</a:t>
                      </a:r>
                      <a:r>
                        <a:rPr lang="fa-IR" dirty="0"/>
                        <a:t> </a:t>
                      </a:r>
                      <a:r>
                        <a:rPr lang="fa-IR" dirty="0" err="1"/>
                        <a:t>side</a:t>
                      </a:r>
                      <a:r>
                        <a:rPr lang="fa-IR" dirty="0"/>
                        <a:t> </a:t>
                      </a:r>
                      <a:r>
                        <a:rPr lang="fa-IR" dirty="0" err="1"/>
                        <a:t>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dirty="0" err="1"/>
                        <a:t>Left</a:t>
                      </a:r>
                      <a:r>
                        <a:rPr lang="fa-IR" dirty="0"/>
                        <a:t> </a:t>
                      </a:r>
                      <a:r>
                        <a:rPr lang="fa-IR" dirty="0" err="1"/>
                        <a:t>side</a:t>
                      </a:r>
                      <a:r>
                        <a:rPr lang="fa-IR" dirty="0"/>
                        <a:t> </a:t>
                      </a:r>
                      <a:r>
                        <a:rPr lang="fa-IR" dirty="0" err="1"/>
                        <a:t>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dirty="0" err="1"/>
                        <a:t>Padding</a:t>
                      </a:r>
                      <a:r>
                        <a:rPr lang="fa-IR" dirty="0"/>
                        <a:t> </a:t>
                      </a:r>
                      <a:r>
                        <a:rPr lang="fa-IR" dirty="0" err="1"/>
                        <a:t>Strategy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03016"/>
                  </a:ext>
                </a:extLst>
              </a:tr>
              <a:tr h="347044">
                <a:tc>
                  <a:txBody>
                    <a:bodyPr/>
                    <a:lstStyle/>
                    <a:p>
                      <a:pPr rtl="1"/>
                      <a:r>
                        <a:rPr lang="fa-I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dirty="0" err="1"/>
                        <a:t>Lora</a:t>
                      </a:r>
                      <a:r>
                        <a:rPr lang="fa-IR" dirty="0"/>
                        <a:t> </a:t>
                      </a:r>
                      <a:r>
                        <a:rPr lang="fa-IR" dirty="0" err="1"/>
                        <a:t>rank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87683"/>
                  </a:ext>
                </a:extLst>
              </a:tr>
              <a:tr h="347044">
                <a:tc>
                  <a:txBody>
                    <a:bodyPr/>
                    <a:lstStyle/>
                    <a:p>
                      <a:pPr rtl="1"/>
                      <a:r>
                        <a:rPr lang="fa-I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dirty="0" err="1"/>
                        <a:t>Lora</a:t>
                      </a:r>
                      <a:r>
                        <a:rPr lang="fa-IR" dirty="0"/>
                        <a:t> </a:t>
                      </a:r>
                      <a:r>
                        <a:rPr lang="fa-IR" dirty="0" err="1"/>
                        <a:t>alpha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648267"/>
                  </a:ext>
                </a:extLst>
              </a:tr>
              <a:tr h="347044">
                <a:tc>
                  <a:txBody>
                    <a:bodyPr/>
                    <a:lstStyle/>
                    <a:p>
                      <a:pPr rtl="1"/>
                      <a:r>
                        <a:rPr lang="fa-IR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dirty="0" err="1"/>
                        <a:t>Drop</a:t>
                      </a:r>
                      <a:r>
                        <a:rPr lang="fa-IR" dirty="0"/>
                        <a:t> </a:t>
                      </a:r>
                      <a:r>
                        <a:rPr lang="fa-IR" dirty="0" err="1"/>
                        <a:t>out</a:t>
                      </a:r>
                      <a:r>
                        <a:rPr lang="fa-IR" dirty="0"/>
                        <a:t> </a:t>
                      </a:r>
                      <a:r>
                        <a:rPr lang="fa-IR" dirty="0" err="1"/>
                        <a:t>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7101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3397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063577F-2949-C31E-B4B0-5E250230F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7E4A51B-BAF6-3729-A2C0-89331F2FB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365" y="-318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40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76716193-6342-82BD-7AF9-282DA5A3E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1" y="1143000"/>
            <a:ext cx="5029199" cy="1061720"/>
          </a:xfrm>
        </p:spPr>
        <p:txBody>
          <a:bodyPr anchor="t">
            <a:normAutofit/>
          </a:bodyPr>
          <a:lstStyle/>
          <a:p>
            <a:r>
              <a:rPr lang="fa-IR" err="1"/>
              <a:t>Results</a:t>
            </a:r>
          </a:p>
        </p:txBody>
      </p:sp>
      <p:graphicFrame>
        <p:nvGraphicFramePr>
          <p:cNvPr id="5" name="نگهدارنده مکان محتوا 4">
            <a:extLst>
              <a:ext uri="{FF2B5EF4-FFF2-40B4-BE49-F238E27FC236}">
                <a16:creationId xmlns:a16="http://schemas.microsoft.com/office/drawing/2014/main" id="{FE5DF868-2FE0-F8D4-EFC4-4572367B68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2109593"/>
              </p:ext>
            </p:extLst>
          </p:nvPr>
        </p:nvGraphicFramePr>
        <p:xfrm>
          <a:off x="3483691" y="2595880"/>
          <a:ext cx="6941655" cy="3119123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289494">
                  <a:extLst>
                    <a:ext uri="{9D8B030D-6E8A-4147-A177-3AD203B41FA5}">
                      <a16:colId xmlns:a16="http://schemas.microsoft.com/office/drawing/2014/main" val="3614249999"/>
                    </a:ext>
                  </a:extLst>
                </a:gridCol>
                <a:gridCol w="1126718">
                  <a:extLst>
                    <a:ext uri="{9D8B030D-6E8A-4147-A177-3AD203B41FA5}">
                      <a16:colId xmlns:a16="http://schemas.microsoft.com/office/drawing/2014/main" val="2214793240"/>
                    </a:ext>
                  </a:extLst>
                </a:gridCol>
                <a:gridCol w="1289494">
                  <a:extLst>
                    <a:ext uri="{9D8B030D-6E8A-4147-A177-3AD203B41FA5}">
                      <a16:colId xmlns:a16="http://schemas.microsoft.com/office/drawing/2014/main" val="1245400345"/>
                    </a:ext>
                  </a:extLst>
                </a:gridCol>
                <a:gridCol w="1289494">
                  <a:extLst>
                    <a:ext uri="{9D8B030D-6E8A-4147-A177-3AD203B41FA5}">
                      <a16:colId xmlns:a16="http://schemas.microsoft.com/office/drawing/2014/main" val="330217224"/>
                    </a:ext>
                  </a:extLst>
                </a:gridCol>
                <a:gridCol w="1946455">
                  <a:extLst>
                    <a:ext uri="{9D8B030D-6E8A-4147-A177-3AD203B41FA5}">
                      <a16:colId xmlns:a16="http://schemas.microsoft.com/office/drawing/2014/main" val="4043565305"/>
                    </a:ext>
                  </a:extLst>
                </a:gridCol>
              </a:tblGrid>
              <a:tr h="292003">
                <a:tc>
                  <a:txBody>
                    <a:bodyPr/>
                    <a:lstStyle/>
                    <a:p>
                      <a:pPr rtl="1"/>
                      <a:r>
                        <a:rPr lang="fa-IR" sz="1300" err="1"/>
                        <a:t>PersianMind</a:t>
                      </a:r>
                      <a:endParaRPr lang="fa-IR" sz="1300" dirty="0" err="1"/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err="1"/>
                        <a:t>Qwen</a:t>
                      </a:r>
                      <a:endParaRPr lang="fa-IR" sz="1300" dirty="0" err="1"/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err="1"/>
                        <a:t>aya-expanse</a:t>
                      </a:r>
                      <a:endParaRPr lang="fa-IR" sz="1300" dirty="0" err="1"/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dirty="0" err="1"/>
                        <a:t>gaokerena</a:t>
                      </a:r>
                      <a:r>
                        <a:rPr lang="fa-IR" sz="1300" dirty="0"/>
                        <a:t>-V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endParaRPr lang="fa-IR" sz="1300"/>
                    </a:p>
                  </a:txBody>
                  <a:tcPr marL="66364" marR="66364" marT="33182" marB="33182"/>
                </a:tc>
                <a:extLst>
                  <a:ext uri="{0D108BD9-81ED-4DB2-BD59-A6C34878D82A}">
                    <a16:rowId xmlns:a16="http://schemas.microsoft.com/office/drawing/2014/main" val="2024464942"/>
                  </a:ext>
                </a:extLst>
              </a:tr>
              <a:tr h="292003">
                <a:tc>
                  <a:txBody>
                    <a:bodyPr/>
                    <a:lstStyle/>
                    <a:p>
                      <a:pPr rtl="1"/>
                      <a:r>
                        <a:rPr lang="fa-IR" sz="1300" dirty="0"/>
                        <a:t>25.18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0" u="none" dirty="0"/>
                        <a:t>41.48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0" u="none" dirty="0"/>
                        <a:t>40.74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1" u="sng" dirty="0"/>
                        <a:t>48.14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err="1"/>
                        <a:t>Anatomy</a:t>
                      </a:r>
                      <a:endParaRPr lang="fa-IR" sz="1300" dirty="0" err="1"/>
                    </a:p>
                  </a:txBody>
                  <a:tcPr marL="66364" marR="66364" marT="33182" marB="33182"/>
                </a:tc>
                <a:extLst>
                  <a:ext uri="{0D108BD9-81ED-4DB2-BD59-A6C34878D82A}">
                    <a16:rowId xmlns:a16="http://schemas.microsoft.com/office/drawing/2014/main" val="3632135349"/>
                  </a:ext>
                </a:extLst>
              </a:tr>
              <a:tr h="292003">
                <a:tc>
                  <a:txBody>
                    <a:bodyPr/>
                    <a:lstStyle/>
                    <a:p>
                      <a:pPr rtl="1"/>
                      <a:r>
                        <a:rPr lang="fa-IR" sz="1300" dirty="0"/>
                        <a:t>34.0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0" u="none" dirty="0"/>
                        <a:t>52.0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0" u="none" dirty="0"/>
                        <a:t>49.0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1" u="sng" dirty="0"/>
                        <a:t>53.0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err="1"/>
                        <a:t>Genetics</a:t>
                      </a:r>
                      <a:endParaRPr lang="fa-IR" sz="1300" dirty="0" err="1"/>
                    </a:p>
                  </a:txBody>
                  <a:tcPr marL="66364" marR="66364" marT="33182" marB="33182"/>
                </a:tc>
                <a:extLst>
                  <a:ext uri="{0D108BD9-81ED-4DB2-BD59-A6C34878D82A}">
                    <a16:rowId xmlns:a16="http://schemas.microsoft.com/office/drawing/2014/main" val="406867895"/>
                  </a:ext>
                </a:extLst>
              </a:tr>
              <a:tr h="292003">
                <a:tc>
                  <a:txBody>
                    <a:bodyPr/>
                    <a:lstStyle/>
                    <a:p>
                      <a:pPr rtl="1"/>
                      <a:r>
                        <a:rPr lang="fa-IR" sz="1300" dirty="0"/>
                        <a:t>20.23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dirty="0"/>
                        <a:t>43.35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1" i="0" u="sng" dirty="0"/>
                        <a:t>44.51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dirty="0"/>
                        <a:t>43.93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err="1"/>
                        <a:t>College-Medicine</a:t>
                      </a:r>
                      <a:endParaRPr lang="fa-IR" sz="1300" dirty="0" err="1"/>
                    </a:p>
                  </a:txBody>
                  <a:tcPr marL="66364" marR="66364" marT="33182" marB="33182"/>
                </a:tc>
                <a:extLst>
                  <a:ext uri="{0D108BD9-81ED-4DB2-BD59-A6C34878D82A}">
                    <a16:rowId xmlns:a16="http://schemas.microsoft.com/office/drawing/2014/main" val="637717178"/>
                  </a:ext>
                </a:extLst>
              </a:tr>
              <a:tr h="292003">
                <a:tc>
                  <a:txBody>
                    <a:bodyPr/>
                    <a:lstStyle/>
                    <a:p>
                      <a:pPr rtl="1"/>
                      <a:r>
                        <a:rPr lang="fa-IR" sz="1300" dirty="0"/>
                        <a:t>25.28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0" u="none" dirty="0"/>
                        <a:t>47.92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0" u="none" dirty="0"/>
                        <a:t>52.07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1" u="sng" dirty="0"/>
                        <a:t>55.47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err="1"/>
                        <a:t>Clinical-Knowledge</a:t>
                      </a:r>
                      <a:endParaRPr lang="fa-IR" sz="1300" dirty="0" err="1"/>
                    </a:p>
                  </a:txBody>
                  <a:tcPr marL="66364" marR="66364" marT="33182" marB="33182"/>
                </a:tc>
                <a:extLst>
                  <a:ext uri="{0D108BD9-81ED-4DB2-BD59-A6C34878D82A}">
                    <a16:rowId xmlns:a16="http://schemas.microsoft.com/office/drawing/2014/main" val="2303047204"/>
                  </a:ext>
                </a:extLst>
              </a:tr>
              <a:tr h="292003">
                <a:tc>
                  <a:txBody>
                    <a:bodyPr/>
                    <a:lstStyle/>
                    <a:p>
                      <a:pPr rtl="1"/>
                      <a:r>
                        <a:rPr lang="fa-IR" sz="1300" dirty="0"/>
                        <a:t>23.89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0" u="none" dirty="0"/>
                        <a:t>43.01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0" u="none" dirty="0"/>
                        <a:t>45.58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1" u="sng" dirty="0"/>
                        <a:t>47.05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fa-IR" sz="1300" b="0" i="0" u="none" strike="noStrike" noProof="0" dirty="0">
                          <a:latin typeface="Neue Haas Grotesk Text Pro"/>
                        </a:rPr>
                        <a:t>Professional-</a:t>
                      </a:r>
                      <a:r>
                        <a:rPr lang="fa-IR" sz="1300" b="0" i="0" u="none" strike="noStrike" noProof="0" dirty="0" err="1">
                          <a:latin typeface="Neue Haas Grotesk Text Pro"/>
                        </a:rPr>
                        <a:t>Medicine</a:t>
                      </a:r>
                    </a:p>
                  </a:txBody>
                  <a:tcPr marL="66364" marR="66364" marT="33182" marB="33182"/>
                </a:tc>
                <a:extLst>
                  <a:ext uri="{0D108BD9-81ED-4DB2-BD59-A6C34878D82A}">
                    <a16:rowId xmlns:a16="http://schemas.microsoft.com/office/drawing/2014/main" val="3283258248"/>
                  </a:ext>
                </a:extLst>
              </a:tr>
              <a:tr h="292003">
                <a:tc>
                  <a:txBody>
                    <a:bodyPr/>
                    <a:lstStyle/>
                    <a:p>
                      <a:pPr rtl="1"/>
                      <a:r>
                        <a:rPr lang="fa-IR" sz="1300" dirty="0"/>
                        <a:t>32.63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0" u="none" dirty="0"/>
                        <a:t>42.36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0" u="none" dirty="0"/>
                        <a:t>45.14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1" u="sng" dirty="0"/>
                        <a:t>47.22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err="1"/>
                        <a:t>College-Biology</a:t>
                      </a:r>
                      <a:endParaRPr lang="fa-IR" sz="1300" dirty="0" err="1"/>
                    </a:p>
                  </a:txBody>
                  <a:tcPr marL="66364" marR="66364" marT="33182" marB="33182"/>
                </a:tc>
                <a:extLst>
                  <a:ext uri="{0D108BD9-81ED-4DB2-BD59-A6C34878D82A}">
                    <a16:rowId xmlns:a16="http://schemas.microsoft.com/office/drawing/2014/main" val="993769256"/>
                  </a:ext>
                </a:extLst>
              </a:tr>
              <a:tr h="292003">
                <a:tc>
                  <a:txBody>
                    <a:bodyPr/>
                    <a:lstStyle/>
                    <a:p>
                      <a:pPr rtl="1"/>
                      <a:r>
                        <a:rPr lang="fa-IR" sz="1300" dirty="0"/>
                        <a:t>25.89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0" u="none" dirty="0"/>
                        <a:t>45.17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0" u="none" dirty="0"/>
                        <a:t>46.64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1" u="sng" dirty="0"/>
                        <a:t>49.31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err="1"/>
                        <a:t>Avg</a:t>
                      </a:r>
                      <a:endParaRPr lang="fa-IR" sz="1300" dirty="0" err="1"/>
                    </a:p>
                  </a:txBody>
                  <a:tcPr marL="66364" marR="66364" marT="33182" marB="33182"/>
                </a:tc>
                <a:extLst>
                  <a:ext uri="{0D108BD9-81ED-4DB2-BD59-A6C34878D82A}">
                    <a16:rowId xmlns:a16="http://schemas.microsoft.com/office/drawing/2014/main" val="3406487408"/>
                  </a:ext>
                </a:extLst>
              </a:tr>
              <a:tr h="491096">
                <a:tc>
                  <a:txBody>
                    <a:bodyPr/>
                    <a:lstStyle/>
                    <a:p>
                      <a:pPr rtl="1"/>
                      <a:r>
                        <a:rPr lang="fa-IR" sz="1300" dirty="0"/>
                        <a:t>19.64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0" i="0" u="none" dirty="0"/>
                        <a:t>33.33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0" i="0" u="none" dirty="0"/>
                        <a:t>34.52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1" i="0" u="sng" dirty="0"/>
                        <a:t>38.69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dirty="0"/>
                        <a:t>IBMSEE </a:t>
                      </a:r>
                      <a:r>
                        <a:rPr lang="fa-IR" sz="1300" dirty="0" err="1"/>
                        <a:t>Sept</a:t>
                      </a:r>
                    </a:p>
                    <a:p>
                      <a:pPr lvl="0" rtl="1">
                        <a:buNone/>
                      </a:pPr>
                      <a:r>
                        <a:rPr lang="fa-IR" sz="1300" dirty="0"/>
                        <a:t>2023</a:t>
                      </a:r>
                    </a:p>
                  </a:txBody>
                  <a:tcPr marL="66364" marR="66364" marT="33182" marB="33182"/>
                </a:tc>
                <a:extLst>
                  <a:ext uri="{0D108BD9-81ED-4DB2-BD59-A6C34878D82A}">
                    <a16:rowId xmlns:a16="http://schemas.microsoft.com/office/drawing/2014/main" val="193097189"/>
                  </a:ext>
                </a:extLst>
              </a:tr>
              <a:tr h="292003">
                <a:tc>
                  <a:txBody>
                    <a:bodyPr/>
                    <a:lstStyle/>
                    <a:p>
                      <a:pPr rtl="1"/>
                      <a:r>
                        <a:rPr lang="fa-IR" sz="1300" dirty="0"/>
                        <a:t>b6.8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dirty="0"/>
                        <a:t>b7.6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fa-IR" sz="1300" dirty="0"/>
                        <a:t>b8</a:t>
                      </a:r>
                      <a:endParaRPr lang="fa-IR" dirty="0"/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dirty="0"/>
                        <a:t>b8</a:t>
                      </a:r>
                    </a:p>
                  </a:txBody>
                  <a:tcPr marL="66364" marR="66364" marT="33182" marB="3318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dirty="0" err="1"/>
                        <a:t>No</a:t>
                      </a:r>
                      <a:r>
                        <a:rPr lang="fa-IR" sz="1300" dirty="0"/>
                        <a:t>. </a:t>
                      </a:r>
                      <a:r>
                        <a:rPr lang="fa-IR" sz="1300" dirty="0" err="1"/>
                        <a:t>parameters</a:t>
                      </a:r>
                    </a:p>
                  </a:txBody>
                  <a:tcPr marL="66364" marR="66364" marT="33182" marB="33182"/>
                </a:tc>
                <a:extLst>
                  <a:ext uri="{0D108BD9-81ED-4DB2-BD59-A6C34878D82A}">
                    <a16:rowId xmlns:a16="http://schemas.microsoft.com/office/drawing/2014/main" val="929289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246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26D878-668C-EE3D-678E-AA88046FC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22694B6-1700-7150-888D-2A1172BC0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6401" y="3378954"/>
            <a:ext cx="6394567" cy="3479046"/>
          </a:xfrm>
          <a:custGeom>
            <a:avLst/>
            <a:gdLst/>
            <a:ahLst/>
            <a:cxnLst/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F40C13A-3BDE-5A19-9CAE-D3175E09E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D3BB73B-7B4C-8662-90E3-06E572EE3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V="1">
            <a:off x="-35524" y="-119829"/>
            <a:ext cx="12204742" cy="6152857"/>
          </a:xfrm>
          <a:custGeom>
            <a:avLst/>
            <a:gdLst>
              <a:gd name="connsiteX0" fmla="*/ 2879413 w 12204742"/>
              <a:gd name="connsiteY0" fmla="*/ 2336 h 6152857"/>
              <a:gd name="connsiteX1" fmla="*/ 140766 w 12204742"/>
              <a:gd name="connsiteY1" fmla="*/ 1212659 h 6152857"/>
              <a:gd name="connsiteX2" fmla="*/ 0 w 12204742"/>
              <a:gd name="connsiteY2" fmla="*/ 1366844 h 6152857"/>
              <a:gd name="connsiteX3" fmla="*/ 83541 w 12204742"/>
              <a:gd name="connsiteY3" fmla="*/ 6152857 h 6152857"/>
              <a:gd name="connsiteX4" fmla="*/ 12204742 w 12204742"/>
              <a:gd name="connsiteY4" fmla="*/ 5941281 h 6152857"/>
              <a:gd name="connsiteX5" fmla="*/ 5349696 w 12204742"/>
              <a:gd name="connsiteY5" fmla="*/ 753031 h 6152857"/>
              <a:gd name="connsiteX6" fmla="*/ 5265419 w 12204742"/>
              <a:gd name="connsiteY6" fmla="*/ 692507 h 6152857"/>
              <a:gd name="connsiteX7" fmla="*/ 3112670 w 12204742"/>
              <a:gd name="connsiteY7" fmla="*/ 1150 h 6152857"/>
              <a:gd name="connsiteX8" fmla="*/ 2879413 w 12204742"/>
              <a:gd name="connsiteY8" fmla="*/ 2336 h 615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4742" h="6152857">
                <a:moveTo>
                  <a:pt x="2879413" y="2336"/>
                </a:moveTo>
                <a:cubicBezTo>
                  <a:pt x="1869738" y="36741"/>
                  <a:pt x="880393" y="450749"/>
                  <a:pt x="140766" y="1212659"/>
                </a:cubicBezTo>
                <a:lnTo>
                  <a:pt x="0" y="1366844"/>
                </a:lnTo>
                <a:lnTo>
                  <a:pt x="83541" y="6152857"/>
                </a:lnTo>
                <a:lnTo>
                  <a:pt x="12204742" y="5941281"/>
                </a:lnTo>
                <a:lnTo>
                  <a:pt x="5349696" y="753031"/>
                </a:lnTo>
                <a:lnTo>
                  <a:pt x="5265419" y="692507"/>
                </a:lnTo>
                <a:cubicBezTo>
                  <a:pt x="4607957" y="245206"/>
                  <a:pt x="3859582" y="19009"/>
                  <a:pt x="3112670" y="1150"/>
                </a:cubicBezTo>
                <a:cubicBezTo>
                  <a:pt x="3034867" y="-711"/>
                  <a:pt x="2957079" y="-310"/>
                  <a:pt x="2879413" y="2336"/>
                </a:cubicBez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1A8916FA-664E-14EF-7ABF-72A86A8E7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850005"/>
            <a:ext cx="6196885" cy="1655289"/>
          </a:xfrm>
        </p:spPr>
        <p:txBody>
          <a:bodyPr>
            <a:normAutofit/>
          </a:bodyPr>
          <a:lstStyle/>
          <a:p>
            <a:r>
              <a:rPr lang="fa-IR" sz="4800" err="1"/>
              <a:t>Phase</a:t>
            </a:r>
            <a:r>
              <a:rPr lang="fa-IR" sz="480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2718993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364E18-0909-04B8-85B7-1D75F7673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A4E4C0D-6BCA-FC17-62BD-B629662A9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19000">
                <a:schemeClr val="bg2"/>
              </a:gs>
              <a:gs pos="99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7E2F1A37-BDF2-4AF7-E53D-D25788C06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680" y="1143000"/>
            <a:ext cx="7946597" cy="1257300"/>
          </a:xfrm>
        </p:spPr>
        <p:txBody>
          <a:bodyPr anchor="ctr">
            <a:normAutofit/>
          </a:bodyPr>
          <a:lstStyle/>
          <a:p>
            <a:r>
              <a:rPr lang="fa-IR" err="1"/>
              <a:t>Reasoning</a:t>
            </a:r>
            <a:r>
              <a:rPr lang="fa-IR"/>
              <a:t> </a:t>
            </a:r>
            <a:r>
              <a:rPr lang="fa-IR" err="1"/>
              <a:t>in</a:t>
            </a:r>
            <a:r>
              <a:rPr lang="fa-IR"/>
              <a:t> </a:t>
            </a:r>
            <a:r>
              <a:rPr lang="fa-IR" err="1"/>
              <a:t>language</a:t>
            </a:r>
            <a:r>
              <a:rPr lang="fa-IR"/>
              <a:t> </a:t>
            </a:r>
            <a:r>
              <a:rPr lang="fa-IR" err="1"/>
              <a:t>models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08FA76-1ED5-E432-8E59-C7ABAAB6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1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نگهدارنده مکان محتوا 2">
            <a:extLst>
              <a:ext uri="{FF2B5EF4-FFF2-40B4-BE49-F238E27FC236}">
                <a16:creationId xmlns:a16="http://schemas.microsoft.com/office/drawing/2014/main" id="{92A36728-79FF-F8A7-A33D-C35255014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7680" y="2411519"/>
            <a:ext cx="5380530" cy="339464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fa-IR" err="1"/>
              <a:t>In</a:t>
            </a:r>
            <a:r>
              <a:rPr lang="fa-IR"/>
              <a:t> </a:t>
            </a:r>
            <a:r>
              <a:rPr lang="fa-IR" err="1"/>
              <a:t>NeurIPS</a:t>
            </a:r>
            <a:r>
              <a:rPr lang="fa-IR"/>
              <a:t> 2019 </a:t>
            </a:r>
            <a:r>
              <a:rPr lang="fa-IR" err="1"/>
              <a:t>Bengio</a:t>
            </a:r>
            <a:r>
              <a:rPr lang="fa-IR"/>
              <a:t> </a:t>
            </a:r>
            <a:r>
              <a:rPr lang="fa-IR" err="1"/>
              <a:t>asserted</a:t>
            </a:r>
            <a:r>
              <a:rPr lang="fa-IR"/>
              <a:t> a </a:t>
            </a:r>
            <a:r>
              <a:rPr lang="fa-IR" err="1"/>
              <a:t>key</a:t>
            </a:r>
            <a:r>
              <a:rPr lang="fa-IR"/>
              <a:t> </a:t>
            </a:r>
            <a:r>
              <a:rPr lang="fa-IR" err="1">
                <a:ea typeface="+mn-lt"/>
                <a:cs typeface="+mn-lt"/>
              </a:rPr>
              <a:t>deficiency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in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current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deep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learning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systems</a:t>
            </a:r>
            <a:r>
              <a:rPr lang="fa-IR">
                <a:ea typeface="+mn-lt"/>
                <a:cs typeface="+mn-lt"/>
              </a:rPr>
              <a:t>, </a:t>
            </a:r>
            <a:r>
              <a:rPr lang="fa-IR" err="1">
                <a:ea typeface="+mn-lt"/>
                <a:cs typeface="+mn-lt"/>
              </a:rPr>
              <a:t>they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can't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reason</a:t>
            </a:r>
          </a:p>
          <a:p>
            <a:pPr>
              <a:lnSpc>
                <a:spcPct val="110000"/>
              </a:lnSpc>
            </a:pPr>
            <a:r>
              <a:rPr lang="fa-IR" err="1">
                <a:ea typeface="+mn-lt"/>
                <a:cs typeface="+mn-lt"/>
              </a:rPr>
              <a:t>That's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why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Sutton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bitter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lesson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repeats</a:t>
            </a:r>
          </a:p>
          <a:p>
            <a:pPr>
              <a:lnSpc>
                <a:spcPct val="110000"/>
              </a:lnSpc>
            </a:pPr>
            <a:r>
              <a:rPr lang="fa-IR" err="1">
                <a:ea typeface="+mn-lt"/>
                <a:cs typeface="+mn-lt"/>
              </a:rPr>
              <a:t>That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deficiency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exists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in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transformers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too</a:t>
            </a:r>
            <a:r>
              <a:rPr lang="fa-IR">
                <a:ea typeface="+mn-lt"/>
                <a:cs typeface="+mn-lt"/>
              </a:rPr>
              <a:t>, a </a:t>
            </a:r>
            <a:r>
              <a:rPr lang="fa-IR" err="1">
                <a:ea typeface="+mn-lt"/>
                <a:cs typeface="+mn-lt"/>
              </a:rPr>
              <a:t>new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artchitecture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should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be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developed</a:t>
            </a:r>
          </a:p>
          <a:p>
            <a:pPr>
              <a:lnSpc>
                <a:spcPct val="110000"/>
              </a:lnSpc>
            </a:pPr>
            <a:r>
              <a:rPr lang="fa-IR" err="1">
                <a:ea typeface="+mn-lt"/>
                <a:cs typeface="+mn-lt"/>
              </a:rPr>
              <a:t>But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as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Feb</a:t>
            </a:r>
            <a:r>
              <a:rPr lang="fa-IR">
                <a:ea typeface="+mn-lt"/>
                <a:cs typeface="+mn-lt"/>
              </a:rPr>
              <a:t> 2026 </a:t>
            </a:r>
            <a:r>
              <a:rPr lang="fa-IR" err="1">
                <a:ea typeface="+mn-lt"/>
                <a:cs typeface="+mn-lt"/>
              </a:rPr>
              <a:t>we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are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bounded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to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use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transformers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and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try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to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enhace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its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reasoning</a:t>
            </a:r>
            <a:r>
              <a:rPr lang="fa-IR">
                <a:ea typeface="+mn-lt"/>
                <a:cs typeface="+mn-lt"/>
              </a:rPr>
              <a:t> </a:t>
            </a:r>
            <a:r>
              <a:rPr lang="fa-IR" err="1">
                <a:ea typeface="+mn-lt"/>
                <a:cs typeface="+mn-lt"/>
              </a:rPr>
              <a:t>skills</a:t>
            </a:r>
          </a:p>
          <a:p>
            <a:pPr>
              <a:lnSpc>
                <a:spcPct val="110000"/>
              </a:lnSpc>
            </a:pPr>
            <a:endParaRPr lang="fa-IR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80998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364E18-0909-04B8-85B7-1D75F7673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A4E4C0D-6BCA-FC17-62BD-B629662A9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19000">
                <a:schemeClr val="bg2"/>
              </a:gs>
              <a:gs pos="99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A25AAE89-EF3C-66C7-BFB5-684E9E4BF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680" y="1143000"/>
            <a:ext cx="7946597" cy="1257300"/>
          </a:xfrm>
        </p:spPr>
        <p:txBody>
          <a:bodyPr anchor="ctr">
            <a:normAutofit/>
          </a:bodyPr>
          <a:lstStyle/>
          <a:p>
            <a:r>
              <a:rPr lang="fa-IR" dirty="0" err="1"/>
              <a:t>Enhacing</a:t>
            </a:r>
            <a:r>
              <a:rPr lang="fa-IR" dirty="0"/>
              <a:t> </a:t>
            </a:r>
            <a:r>
              <a:rPr lang="fa-IR" dirty="0" err="1"/>
              <a:t>reasoning</a:t>
            </a:r>
            <a:r>
              <a:rPr lang="fa-IR" dirty="0"/>
              <a:t> </a:t>
            </a:r>
            <a:r>
              <a:rPr lang="fa-IR" dirty="0" err="1"/>
              <a:t>in</a:t>
            </a:r>
            <a:r>
              <a:rPr lang="fa-IR" dirty="0"/>
              <a:t> </a:t>
            </a:r>
            <a:r>
              <a:rPr lang="fa-IR" dirty="0" err="1"/>
              <a:t>language</a:t>
            </a:r>
            <a:r>
              <a:rPr lang="fa-IR" dirty="0"/>
              <a:t> </a:t>
            </a:r>
            <a:r>
              <a:rPr lang="fa-IR" dirty="0" err="1"/>
              <a:t>models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08FA76-1ED5-E432-8E59-C7ABAAB6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1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نگهدارنده مکان محتوا 2">
            <a:extLst>
              <a:ext uri="{FF2B5EF4-FFF2-40B4-BE49-F238E27FC236}">
                <a16:creationId xmlns:a16="http://schemas.microsoft.com/office/drawing/2014/main" id="{4A7DB599-01B4-3CE6-A05B-0976E2B69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7680" y="2411519"/>
            <a:ext cx="5380530" cy="339464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fa-IR" sz="1700" err="1">
                <a:ea typeface="+mn-lt"/>
                <a:cs typeface="+mn-lt"/>
              </a:rPr>
              <a:t>The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zeroth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approach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tries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to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use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merge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connectionist</a:t>
            </a:r>
            <a:r>
              <a:rPr lang="fa-IR" sz="1700">
                <a:ea typeface="+mn-lt"/>
                <a:cs typeface="+mn-lt"/>
              </a:rPr>
              <a:t> AI </a:t>
            </a:r>
            <a:r>
              <a:rPr lang="fa-IR" sz="1700" err="1">
                <a:ea typeface="+mn-lt"/>
                <a:cs typeface="+mn-lt"/>
              </a:rPr>
              <a:t>and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Symbolic</a:t>
            </a:r>
            <a:r>
              <a:rPr lang="fa-IR" sz="1700">
                <a:ea typeface="+mn-lt"/>
                <a:cs typeface="+mn-lt"/>
              </a:rPr>
              <a:t> AI</a:t>
            </a:r>
          </a:p>
          <a:p>
            <a:pPr>
              <a:lnSpc>
                <a:spcPct val="110000"/>
              </a:lnSpc>
            </a:pPr>
            <a:r>
              <a:rPr lang="fa-IR" sz="1700" err="1">
                <a:ea typeface="+mn-lt"/>
                <a:cs typeface="+mn-lt"/>
              </a:rPr>
              <a:t>The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first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approach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which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Bengio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has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suggested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is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to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develop</a:t>
            </a:r>
            <a:r>
              <a:rPr lang="fa-IR" sz="1700">
                <a:ea typeface="+mn-lt"/>
                <a:cs typeface="+mn-lt"/>
              </a:rPr>
              <a:t> a </a:t>
            </a:r>
            <a:r>
              <a:rPr lang="fa-IR" sz="1700" err="1">
                <a:ea typeface="+mn-lt"/>
                <a:cs typeface="+mn-lt"/>
              </a:rPr>
              <a:t>new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architecture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within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internal</a:t>
            </a:r>
            <a:r>
              <a:rPr lang="fa-IR" sz="1700">
                <a:ea typeface="+mn-lt"/>
                <a:cs typeface="+mn-lt"/>
              </a:rPr>
              <a:t> reasoning </a:t>
            </a:r>
            <a:r>
              <a:rPr lang="fa-IR" sz="1700" err="1">
                <a:ea typeface="+mn-lt"/>
                <a:cs typeface="+mn-lt"/>
              </a:rPr>
              <a:t>capability</a:t>
            </a:r>
          </a:p>
          <a:p>
            <a:pPr>
              <a:lnSpc>
                <a:spcPct val="110000"/>
              </a:lnSpc>
            </a:pPr>
            <a:r>
              <a:rPr lang="fa-IR" sz="1700" err="1">
                <a:ea typeface="+mn-lt"/>
                <a:cs typeface="+mn-lt"/>
              </a:rPr>
              <a:t>The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second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approach</a:t>
            </a:r>
            <a:r>
              <a:rPr lang="fa-IR" sz="1700">
                <a:ea typeface="+mn-lt"/>
                <a:cs typeface="+mn-lt"/>
              </a:rPr>
              <a:t> is to guide the model in the inference time using PRM,ORM</a:t>
            </a:r>
          </a:p>
          <a:p>
            <a:pPr>
              <a:lnSpc>
                <a:spcPct val="110000"/>
              </a:lnSpc>
            </a:pPr>
            <a:r>
              <a:rPr lang="fa-IR" sz="1700" err="1">
                <a:ea typeface="+mn-lt"/>
                <a:cs typeface="+mn-lt"/>
              </a:rPr>
              <a:t>The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third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approach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is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to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train</a:t>
            </a:r>
            <a:r>
              <a:rPr lang="fa-IR" sz="1700">
                <a:ea typeface="+mn-lt"/>
                <a:cs typeface="+mn-lt"/>
              </a:rPr>
              <a:t> a </a:t>
            </a:r>
            <a:r>
              <a:rPr lang="fa-IR" sz="1700" err="1">
                <a:ea typeface="+mn-lt"/>
                <a:cs typeface="+mn-lt"/>
              </a:rPr>
              <a:t>language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model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using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reasoning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data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an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endeavour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to</a:t>
            </a:r>
            <a:r>
              <a:rPr lang="fa-IR" sz="1700">
                <a:ea typeface="+mn-lt"/>
                <a:cs typeface="+mn-lt"/>
              </a:rPr>
              <a:t> </a:t>
            </a:r>
            <a:r>
              <a:rPr lang="fa-IR" sz="1700" err="1">
                <a:ea typeface="+mn-lt"/>
                <a:cs typeface="+mn-lt"/>
              </a:rPr>
              <a:t>mimic</a:t>
            </a:r>
            <a:r>
              <a:rPr lang="fa-IR" sz="1700">
                <a:ea typeface="+mn-lt"/>
                <a:cs typeface="+mn-lt"/>
              </a:rPr>
              <a:t> reasoning abilities.</a:t>
            </a:r>
            <a:endParaRPr lang="fa-IR" sz="1700"/>
          </a:p>
        </p:txBody>
      </p:sp>
    </p:spTree>
    <p:extLst>
      <p:ext uri="{BB962C8B-B14F-4D97-AF65-F5344CB8AC3E}">
        <p14:creationId xmlns:p14="http://schemas.microsoft.com/office/powerpoint/2010/main" val="2038209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6401" y="3378954"/>
            <a:ext cx="6394567" cy="3479046"/>
          </a:xfrm>
          <a:custGeom>
            <a:avLst/>
            <a:gdLst/>
            <a:ahLst/>
            <a:cxnLst/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496AE70-F970-59AB-7309-6CC00692C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DD321C18-B510-613A-66C3-2E5B684E9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1" y="5074083"/>
            <a:ext cx="5508170" cy="1240970"/>
          </a:xfrm>
        </p:spPr>
        <p:txBody>
          <a:bodyPr anchor="t">
            <a:normAutofit/>
          </a:bodyPr>
          <a:lstStyle/>
          <a:p>
            <a:r>
              <a:rPr lang="fa-IR" sz="3600"/>
              <a:t>Proposed methods</a:t>
            </a:r>
          </a:p>
        </p:txBody>
      </p:sp>
      <p:pic>
        <p:nvPicPr>
          <p:cNvPr id="4" name="نگهدارنده مکان محتوا 3" descr="یک تصویر شامل متن, تصویر صفحه, خط&#10;&#10;محتوای تولید شده توسط هوش مصنوعی ممکن است نادرست باشد.">
            <a:extLst>
              <a:ext uri="{FF2B5EF4-FFF2-40B4-BE49-F238E27FC236}">
                <a16:creationId xmlns:a16="http://schemas.microsoft.com/office/drawing/2014/main" id="{EE818920-272F-FA43-3ED5-E010891B5E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1219188"/>
            <a:ext cx="5029200" cy="3331844"/>
          </a:xfrm>
          <a:prstGeom prst="rect">
            <a:avLst/>
          </a:prstGeom>
        </p:spPr>
      </p:pic>
      <p:pic>
        <p:nvPicPr>
          <p:cNvPr id="5" name="تصویر 4" descr="یک تصویر شامل متن, خط&#10;&#10;محتوای تولید شده توسط هوش مصنوعی ممکن است نادرست باشد.">
            <a:extLst>
              <a:ext uri="{FF2B5EF4-FFF2-40B4-BE49-F238E27FC236}">
                <a16:creationId xmlns:a16="http://schemas.microsoft.com/office/drawing/2014/main" id="{742E3CA1-C497-4B2C-1E8B-0E9E2EBB1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651" y="1143000"/>
            <a:ext cx="4369269" cy="340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443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364E18-0909-04B8-85B7-1D75F7673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A4E4C0D-6BCA-FC17-62BD-B629662A9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19000">
                <a:schemeClr val="bg2"/>
              </a:gs>
              <a:gs pos="99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FDC78781-A1E3-9999-FCF8-D3EEF20A8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680" y="1143000"/>
            <a:ext cx="7946597" cy="1257300"/>
          </a:xfrm>
        </p:spPr>
        <p:txBody>
          <a:bodyPr anchor="ctr">
            <a:normAutofit/>
          </a:bodyPr>
          <a:lstStyle/>
          <a:p>
            <a:r>
              <a:rPr lang="en" dirty="0">
                <a:ea typeface="+mj-lt"/>
                <a:cs typeface="+mj-lt"/>
              </a:rPr>
              <a:t>Advantages</a:t>
            </a:r>
            <a:endParaRPr lang="fa-IR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08FA76-1ED5-E432-8E59-C7ABAAB6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1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نگهدارنده مکان محتوا 2">
            <a:extLst>
              <a:ext uri="{FF2B5EF4-FFF2-40B4-BE49-F238E27FC236}">
                <a16:creationId xmlns:a16="http://schemas.microsoft.com/office/drawing/2014/main" id="{287966D9-8ECC-1D8B-815F-2B0D0C369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7680" y="2411519"/>
            <a:ext cx="5380530" cy="33946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fa-IR" err="1"/>
              <a:t>Without</a:t>
            </a:r>
            <a:r>
              <a:rPr lang="fa-IR"/>
              <a:t> </a:t>
            </a:r>
            <a:r>
              <a:rPr lang="fa-IR" err="1"/>
              <a:t>collecting</a:t>
            </a:r>
            <a:r>
              <a:rPr lang="fa-IR"/>
              <a:t> </a:t>
            </a:r>
            <a:r>
              <a:rPr lang="fa-IR" err="1"/>
              <a:t>data</a:t>
            </a:r>
            <a:r>
              <a:rPr lang="fa-IR"/>
              <a:t> </a:t>
            </a:r>
            <a:r>
              <a:rPr lang="fa-IR" err="1"/>
              <a:t>and</a:t>
            </a:r>
            <a:r>
              <a:rPr lang="fa-IR"/>
              <a:t> </a:t>
            </a:r>
            <a:r>
              <a:rPr lang="fa-IR" err="1"/>
              <a:t>just</a:t>
            </a:r>
            <a:r>
              <a:rPr lang="fa-IR"/>
              <a:t> </a:t>
            </a:r>
            <a:r>
              <a:rPr lang="fa-IR" err="1"/>
              <a:t>using</a:t>
            </a:r>
            <a:r>
              <a:rPr lang="fa-IR"/>
              <a:t> RLAIF </a:t>
            </a:r>
            <a:r>
              <a:rPr lang="fa-IR" err="1"/>
              <a:t>we</a:t>
            </a:r>
            <a:r>
              <a:rPr lang="fa-IR"/>
              <a:t> </a:t>
            </a:r>
            <a:r>
              <a:rPr lang="fa-IR" err="1"/>
              <a:t>got</a:t>
            </a:r>
            <a:r>
              <a:rPr lang="fa-IR"/>
              <a:t> </a:t>
            </a:r>
            <a:r>
              <a:rPr lang="fa-IR" err="1"/>
              <a:t>better</a:t>
            </a:r>
            <a:r>
              <a:rPr lang="fa-IR"/>
              <a:t> </a:t>
            </a:r>
            <a:r>
              <a:rPr lang="fa-IR" err="1"/>
              <a:t>Result</a:t>
            </a:r>
            <a:endParaRPr lang="fa-IR"/>
          </a:p>
          <a:p>
            <a:r>
              <a:rPr lang="fa-IR" err="1"/>
              <a:t>Only</a:t>
            </a:r>
            <a:r>
              <a:rPr lang="fa-IR"/>
              <a:t> a </a:t>
            </a:r>
            <a:r>
              <a:rPr lang="fa-IR" err="1"/>
              <a:t>Single</a:t>
            </a:r>
            <a:r>
              <a:rPr lang="fa-IR"/>
              <a:t> </a:t>
            </a:r>
            <a:r>
              <a:rPr lang="fa-IR" err="1"/>
              <a:t>hour</a:t>
            </a:r>
            <a:r>
              <a:rPr lang="fa-IR"/>
              <a:t> </a:t>
            </a:r>
            <a:r>
              <a:rPr lang="fa-IR" err="1"/>
              <a:t>has</a:t>
            </a:r>
            <a:r>
              <a:rPr lang="fa-IR"/>
              <a:t> </a:t>
            </a:r>
            <a:r>
              <a:rPr lang="fa-IR" err="1"/>
              <a:t>been</a:t>
            </a:r>
            <a:r>
              <a:rPr lang="fa-IR"/>
              <a:t> </a:t>
            </a:r>
            <a:r>
              <a:rPr lang="fa-IR" err="1"/>
              <a:t>used</a:t>
            </a:r>
            <a:r>
              <a:rPr lang="fa-IR"/>
              <a:t> </a:t>
            </a:r>
            <a:r>
              <a:rPr lang="fa-IR" err="1"/>
              <a:t>for</a:t>
            </a:r>
            <a:r>
              <a:rPr lang="fa-IR"/>
              <a:t> </a:t>
            </a:r>
            <a:r>
              <a:rPr lang="fa-IR" err="1"/>
              <a:t>training</a:t>
            </a:r>
            <a:endParaRPr lang="fa-IR"/>
          </a:p>
          <a:p>
            <a:r>
              <a:rPr lang="fa-IR" err="1"/>
              <a:t>Our</a:t>
            </a:r>
            <a:r>
              <a:rPr lang="fa-IR"/>
              <a:t> </a:t>
            </a:r>
            <a:r>
              <a:rPr lang="fa-IR" err="1"/>
              <a:t>experiments</a:t>
            </a:r>
            <a:r>
              <a:rPr lang="fa-IR"/>
              <a:t> </a:t>
            </a:r>
            <a:r>
              <a:rPr lang="fa-IR" err="1"/>
              <a:t>shows</a:t>
            </a:r>
            <a:r>
              <a:rPr lang="fa-IR"/>
              <a:t> </a:t>
            </a:r>
            <a:r>
              <a:rPr lang="fa-IR" err="1"/>
              <a:t>the</a:t>
            </a:r>
            <a:r>
              <a:rPr lang="fa-IR"/>
              <a:t> </a:t>
            </a:r>
            <a:r>
              <a:rPr lang="fa-IR" err="1"/>
              <a:t>importance</a:t>
            </a:r>
            <a:r>
              <a:rPr lang="fa-IR"/>
              <a:t> </a:t>
            </a:r>
            <a:r>
              <a:rPr lang="fa-IR" err="1"/>
              <a:t>of</a:t>
            </a:r>
            <a:r>
              <a:rPr lang="fa-IR"/>
              <a:t> </a:t>
            </a:r>
            <a:r>
              <a:rPr lang="fa-IR" err="1"/>
              <a:t>reasoning</a:t>
            </a:r>
            <a:r>
              <a:rPr lang="fa-IR"/>
              <a:t> </a:t>
            </a:r>
            <a:r>
              <a:rPr lang="fa-IR" err="1"/>
              <a:t>in</a:t>
            </a:r>
            <a:r>
              <a:rPr lang="fa-IR"/>
              <a:t> </a:t>
            </a:r>
            <a:r>
              <a:rPr lang="fa-IR" err="1"/>
              <a:t>medical</a:t>
            </a:r>
            <a:r>
              <a:rPr lang="fa-IR"/>
              <a:t> </a:t>
            </a:r>
            <a:r>
              <a:rPr lang="fa-IR" err="1"/>
              <a:t>domain</a:t>
            </a:r>
          </a:p>
        </p:txBody>
      </p:sp>
    </p:spTree>
    <p:extLst>
      <p:ext uri="{BB962C8B-B14F-4D97-AF65-F5344CB8AC3E}">
        <p14:creationId xmlns:p14="http://schemas.microsoft.com/office/powerpoint/2010/main" val="3447521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063577F-2949-C31E-B4B0-5E250230F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7E4A51B-BAF6-3729-A2C0-89331F2FB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365" y="-318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40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912A90FF-8411-8C24-9D81-AAF536296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1" y="1143000"/>
            <a:ext cx="5029199" cy="1061720"/>
          </a:xfrm>
        </p:spPr>
        <p:txBody>
          <a:bodyPr anchor="t">
            <a:normAutofit/>
          </a:bodyPr>
          <a:lstStyle/>
          <a:p>
            <a:r>
              <a:rPr lang="fa-IR" dirty="0" err="1"/>
              <a:t>Result</a:t>
            </a:r>
          </a:p>
        </p:txBody>
      </p:sp>
      <p:graphicFrame>
        <p:nvGraphicFramePr>
          <p:cNvPr id="4" name="نگهدارنده مکان محتوا 3">
            <a:extLst>
              <a:ext uri="{FF2B5EF4-FFF2-40B4-BE49-F238E27FC236}">
                <a16:creationId xmlns:a16="http://schemas.microsoft.com/office/drawing/2014/main" id="{B332EB1F-E1E3-3DCE-1C00-40347D74ED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2421038"/>
              </p:ext>
            </p:extLst>
          </p:nvPr>
        </p:nvGraphicFramePr>
        <p:xfrm>
          <a:off x="3663814" y="2595880"/>
          <a:ext cx="6581409" cy="3119127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565244">
                  <a:extLst>
                    <a:ext uri="{9D8B030D-6E8A-4147-A177-3AD203B41FA5}">
                      <a16:colId xmlns:a16="http://schemas.microsoft.com/office/drawing/2014/main" val="1174637454"/>
                    </a:ext>
                  </a:extLst>
                </a:gridCol>
                <a:gridCol w="1565244">
                  <a:extLst>
                    <a:ext uri="{9D8B030D-6E8A-4147-A177-3AD203B41FA5}">
                      <a16:colId xmlns:a16="http://schemas.microsoft.com/office/drawing/2014/main" val="2730153020"/>
                    </a:ext>
                  </a:extLst>
                </a:gridCol>
                <a:gridCol w="1565244">
                  <a:extLst>
                    <a:ext uri="{9D8B030D-6E8A-4147-A177-3AD203B41FA5}">
                      <a16:colId xmlns:a16="http://schemas.microsoft.com/office/drawing/2014/main" val="3382103674"/>
                    </a:ext>
                  </a:extLst>
                </a:gridCol>
                <a:gridCol w="1885677">
                  <a:extLst>
                    <a:ext uri="{9D8B030D-6E8A-4147-A177-3AD203B41FA5}">
                      <a16:colId xmlns:a16="http://schemas.microsoft.com/office/drawing/2014/main" val="1899340534"/>
                    </a:ext>
                  </a:extLst>
                </a:gridCol>
              </a:tblGrid>
              <a:tr h="283557">
                <a:tc>
                  <a:txBody>
                    <a:bodyPr/>
                    <a:lstStyle/>
                    <a:p>
                      <a:pPr algn="ctr" rtl="1"/>
                      <a:r>
                        <a:rPr lang="fa-IR" sz="1300" err="1"/>
                        <a:t>aya-expanse</a:t>
                      </a:r>
                      <a:endParaRPr lang="fa-IR" sz="1300" dirty="0" err="1"/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300" dirty="0" err="1"/>
                        <a:t>Gaokerena</a:t>
                      </a:r>
                      <a:r>
                        <a:rPr lang="fa-IR" sz="1300" dirty="0"/>
                        <a:t>-V</a:t>
                      </a:r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300" dirty="0" err="1"/>
                        <a:t>Gaokerena</a:t>
                      </a:r>
                      <a:r>
                        <a:rPr lang="fa-IR" sz="1300" dirty="0"/>
                        <a:t>-R</a:t>
                      </a:r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rtl="1"/>
                      <a:endParaRPr lang="fa-IR" sz="1300"/>
                    </a:p>
                  </a:txBody>
                  <a:tcPr marL="64445" marR="64445" marT="32222" marB="32222"/>
                </a:tc>
                <a:extLst>
                  <a:ext uri="{0D108BD9-81ED-4DB2-BD59-A6C34878D82A}">
                    <a16:rowId xmlns:a16="http://schemas.microsoft.com/office/drawing/2014/main" val="1714721942"/>
                  </a:ext>
                </a:extLst>
              </a:tr>
              <a:tr h="283557">
                <a:tc>
                  <a:txBody>
                    <a:bodyPr/>
                    <a:lstStyle/>
                    <a:p>
                      <a:pPr rtl="1"/>
                      <a:r>
                        <a:rPr lang="fa-IR" sz="1300" dirty="0"/>
                        <a:t>40.74</a:t>
                      </a:r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1" u="sng" dirty="0"/>
                        <a:t>48.14</a:t>
                      </a:r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0" u="none" dirty="0"/>
                        <a:t>47.40</a:t>
                      </a:r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fa-IR" sz="1300" b="0" i="0" u="none" strike="noStrike" noProof="0" err="1">
                          <a:solidFill>
                            <a:srgbClr val="000000"/>
                          </a:solidFill>
                          <a:latin typeface="Neue Haas Grotesk Text Pro"/>
                        </a:rPr>
                        <a:t>Anatomy</a:t>
                      </a:r>
                      <a:endParaRPr lang="fa-IR" sz="1300"/>
                    </a:p>
                  </a:txBody>
                  <a:tcPr marL="64445" marR="64445" marT="32222" marB="32222"/>
                </a:tc>
                <a:extLst>
                  <a:ext uri="{0D108BD9-81ED-4DB2-BD59-A6C34878D82A}">
                    <a16:rowId xmlns:a16="http://schemas.microsoft.com/office/drawing/2014/main" val="3727748655"/>
                  </a:ext>
                </a:extLst>
              </a:tr>
              <a:tr h="283557">
                <a:tc>
                  <a:txBody>
                    <a:bodyPr/>
                    <a:lstStyle/>
                    <a:p>
                      <a:pPr rtl="1"/>
                      <a:r>
                        <a:rPr lang="fa-IR" sz="1300" dirty="0"/>
                        <a:t>49.0</a:t>
                      </a:r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0" u="none" dirty="0"/>
                        <a:t>53.0</a:t>
                      </a:r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1" u="sng" dirty="0"/>
                        <a:t>56.0</a:t>
                      </a:r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r>
                        <a:rPr lang="fa-IR" sz="1300" b="0" i="0" u="none" strike="noStrike" noProof="0" err="1">
                          <a:solidFill>
                            <a:srgbClr val="000000"/>
                          </a:solidFill>
                          <a:latin typeface="Neue Haas Grotesk Text Pro"/>
                        </a:rPr>
                        <a:t>Genetics</a:t>
                      </a:r>
                      <a:endParaRPr lang="fa-IR" sz="1300"/>
                    </a:p>
                  </a:txBody>
                  <a:tcPr marL="64445" marR="64445" marT="32222" marB="32222"/>
                </a:tc>
                <a:extLst>
                  <a:ext uri="{0D108BD9-81ED-4DB2-BD59-A6C34878D82A}">
                    <a16:rowId xmlns:a16="http://schemas.microsoft.com/office/drawing/2014/main" val="1985583297"/>
                  </a:ext>
                </a:extLst>
              </a:tr>
              <a:tr h="283557">
                <a:tc>
                  <a:txBody>
                    <a:bodyPr/>
                    <a:lstStyle/>
                    <a:p>
                      <a:pPr rtl="1"/>
                      <a:r>
                        <a:rPr lang="fa-IR" sz="1300" dirty="0"/>
                        <a:t>44.51</a:t>
                      </a:r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0" u="none" dirty="0"/>
                        <a:t>43.93</a:t>
                      </a:r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1" u="sng" dirty="0"/>
                        <a:t>50.28</a:t>
                      </a:r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err="1"/>
                        <a:t>College-medicine</a:t>
                      </a:r>
                      <a:endParaRPr lang="fa-IR" sz="1300" dirty="0" err="1"/>
                    </a:p>
                  </a:txBody>
                  <a:tcPr marL="64445" marR="64445" marT="32222" marB="32222"/>
                </a:tc>
                <a:extLst>
                  <a:ext uri="{0D108BD9-81ED-4DB2-BD59-A6C34878D82A}">
                    <a16:rowId xmlns:a16="http://schemas.microsoft.com/office/drawing/2014/main" val="3661997587"/>
                  </a:ext>
                </a:extLst>
              </a:tr>
              <a:tr h="283557">
                <a:tc>
                  <a:txBody>
                    <a:bodyPr/>
                    <a:lstStyle/>
                    <a:p>
                      <a:pPr rtl="1"/>
                      <a:r>
                        <a:rPr lang="fa-IR" sz="1300" dirty="0"/>
                        <a:t>52.07</a:t>
                      </a:r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0" u="none" dirty="0"/>
                        <a:t>55.47</a:t>
                      </a:r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1" u="sng" dirty="0"/>
                        <a:t>58.86</a:t>
                      </a:r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err="1"/>
                        <a:t>Clinical-knowledge</a:t>
                      </a:r>
                      <a:endParaRPr lang="fa-IR" sz="1300" dirty="0" err="1"/>
                    </a:p>
                  </a:txBody>
                  <a:tcPr marL="64445" marR="64445" marT="32222" marB="32222"/>
                </a:tc>
                <a:extLst>
                  <a:ext uri="{0D108BD9-81ED-4DB2-BD59-A6C34878D82A}">
                    <a16:rowId xmlns:a16="http://schemas.microsoft.com/office/drawing/2014/main" val="495125528"/>
                  </a:ext>
                </a:extLst>
              </a:tr>
              <a:tr h="283557">
                <a:tc>
                  <a:txBody>
                    <a:bodyPr/>
                    <a:lstStyle/>
                    <a:p>
                      <a:pPr rtl="1"/>
                      <a:r>
                        <a:rPr lang="fa-IR" sz="1300" dirty="0"/>
                        <a:t>45.58</a:t>
                      </a:r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dirty="0"/>
                        <a:t>47.05</a:t>
                      </a:r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1" u="sng" dirty="0"/>
                        <a:t>48.89</a:t>
                      </a:r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dirty="0"/>
                        <a:t>Professional-</a:t>
                      </a:r>
                      <a:r>
                        <a:rPr lang="fa-IR" sz="1300" err="1"/>
                        <a:t>medicine</a:t>
                      </a:r>
                    </a:p>
                  </a:txBody>
                  <a:tcPr marL="64445" marR="64445" marT="32222" marB="32222"/>
                </a:tc>
                <a:extLst>
                  <a:ext uri="{0D108BD9-81ED-4DB2-BD59-A6C34878D82A}">
                    <a16:rowId xmlns:a16="http://schemas.microsoft.com/office/drawing/2014/main" val="2797243558"/>
                  </a:ext>
                </a:extLst>
              </a:tr>
              <a:tr h="283557">
                <a:tc>
                  <a:txBody>
                    <a:bodyPr/>
                    <a:lstStyle/>
                    <a:p>
                      <a:pPr rtl="1"/>
                      <a:r>
                        <a:rPr lang="fa-IR" sz="1300" dirty="0"/>
                        <a:t>45.14</a:t>
                      </a:r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dirty="0"/>
                        <a:t>47.22</a:t>
                      </a:r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1" u="sng" dirty="0"/>
                        <a:t>54.86</a:t>
                      </a:r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err="1"/>
                        <a:t>College-biology</a:t>
                      </a:r>
                      <a:endParaRPr lang="fa-IR" sz="1300" dirty="0" err="1"/>
                    </a:p>
                  </a:txBody>
                  <a:tcPr marL="64445" marR="64445" marT="32222" marB="32222"/>
                </a:tc>
                <a:extLst>
                  <a:ext uri="{0D108BD9-81ED-4DB2-BD59-A6C34878D82A}">
                    <a16:rowId xmlns:a16="http://schemas.microsoft.com/office/drawing/2014/main" val="2365568505"/>
                  </a:ext>
                </a:extLst>
              </a:tr>
              <a:tr h="283557">
                <a:tc>
                  <a:txBody>
                    <a:bodyPr/>
                    <a:lstStyle/>
                    <a:p>
                      <a:pPr rtl="1"/>
                      <a:r>
                        <a:rPr lang="fa-IR" sz="1300" dirty="0"/>
                        <a:t>46.64</a:t>
                      </a:r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dirty="0"/>
                        <a:t>49.31</a:t>
                      </a:r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1" u="sng" dirty="0"/>
                        <a:t>52.98</a:t>
                      </a:r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err="1"/>
                        <a:t>Avg</a:t>
                      </a:r>
                      <a:endParaRPr lang="fa-IR" sz="1300" dirty="0" err="1"/>
                    </a:p>
                  </a:txBody>
                  <a:tcPr marL="64445" marR="64445" marT="32222" marB="32222"/>
                </a:tc>
                <a:extLst>
                  <a:ext uri="{0D108BD9-81ED-4DB2-BD59-A6C34878D82A}">
                    <a16:rowId xmlns:a16="http://schemas.microsoft.com/office/drawing/2014/main" val="1647034054"/>
                  </a:ext>
                </a:extLst>
              </a:tr>
              <a:tr h="283557">
                <a:tc>
                  <a:txBody>
                    <a:bodyPr/>
                    <a:lstStyle/>
                    <a:p>
                      <a:pPr rtl="1"/>
                      <a:r>
                        <a:rPr lang="fa-IR" sz="1300" dirty="0"/>
                        <a:t>34.52</a:t>
                      </a:r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dirty="0"/>
                        <a:t>38.69</a:t>
                      </a:r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1" u="sng" dirty="0"/>
                        <a:t>46.42</a:t>
                      </a:r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dirty="0"/>
                        <a:t>IBMSEE </a:t>
                      </a:r>
                      <a:r>
                        <a:rPr lang="fa-IR" sz="1300" dirty="0" err="1"/>
                        <a:t>Sept</a:t>
                      </a:r>
                      <a:r>
                        <a:rPr lang="fa-IR" sz="1300" dirty="0"/>
                        <a:t>   2023</a:t>
                      </a:r>
                    </a:p>
                  </a:txBody>
                  <a:tcPr marL="64445" marR="64445" marT="32222" marB="32222"/>
                </a:tc>
                <a:extLst>
                  <a:ext uri="{0D108BD9-81ED-4DB2-BD59-A6C34878D82A}">
                    <a16:rowId xmlns:a16="http://schemas.microsoft.com/office/drawing/2014/main" val="830459810"/>
                  </a:ext>
                </a:extLst>
              </a:tr>
              <a:tr h="283557">
                <a:tc>
                  <a:txBody>
                    <a:bodyPr/>
                    <a:lstStyle/>
                    <a:p>
                      <a:pPr rtl="1"/>
                      <a:r>
                        <a:rPr lang="fa-IR" sz="1300" err="1"/>
                        <a:t>Straight</a:t>
                      </a:r>
                      <a:endParaRPr lang="fa-IR" sz="1300" dirty="0" err="1"/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err="1"/>
                        <a:t>Straight</a:t>
                      </a:r>
                      <a:endParaRPr lang="fa-IR" sz="1300" dirty="0" err="1"/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b="0" err="1"/>
                        <a:t>Cot</a:t>
                      </a:r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err="1"/>
                        <a:t>Prompt</a:t>
                      </a:r>
                      <a:endParaRPr lang="fa-IR" sz="1300" dirty="0" err="1"/>
                    </a:p>
                  </a:txBody>
                  <a:tcPr marL="64445" marR="64445" marT="32222" marB="32222"/>
                </a:tc>
                <a:extLst>
                  <a:ext uri="{0D108BD9-81ED-4DB2-BD59-A6C34878D82A}">
                    <a16:rowId xmlns:a16="http://schemas.microsoft.com/office/drawing/2014/main" val="1889926201"/>
                  </a:ext>
                </a:extLst>
              </a:tr>
              <a:tr h="283557">
                <a:tc>
                  <a:txBody>
                    <a:bodyPr/>
                    <a:lstStyle/>
                    <a:p>
                      <a:pPr rtl="1"/>
                      <a:r>
                        <a:rPr lang="fa-IR" sz="1300" dirty="0"/>
                        <a:t>8b</a:t>
                      </a:r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dirty="0"/>
                        <a:t>8b</a:t>
                      </a:r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dirty="0"/>
                        <a:t>8b</a:t>
                      </a:r>
                    </a:p>
                  </a:txBody>
                  <a:tcPr marL="64445" marR="64445" marT="32222" marB="32222"/>
                </a:tc>
                <a:tc>
                  <a:txBody>
                    <a:bodyPr/>
                    <a:lstStyle/>
                    <a:p>
                      <a:pPr rtl="1"/>
                      <a:r>
                        <a:rPr lang="fa-IR" sz="1300" err="1"/>
                        <a:t>No</a:t>
                      </a:r>
                      <a:r>
                        <a:rPr lang="fa-IR" sz="1300" dirty="0"/>
                        <a:t>. </a:t>
                      </a:r>
                      <a:r>
                        <a:rPr lang="fa-IR" sz="1300" err="1"/>
                        <a:t>parameters</a:t>
                      </a:r>
                    </a:p>
                  </a:txBody>
                  <a:tcPr marL="64445" marR="64445" marT="32222" marB="32222"/>
                </a:tc>
                <a:extLst>
                  <a:ext uri="{0D108BD9-81ED-4DB2-BD59-A6C34878D82A}">
                    <a16:rowId xmlns:a16="http://schemas.microsoft.com/office/drawing/2014/main" val="2746517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9794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963B85F-390B-3A2A-36D5-A55CC173F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err="1"/>
              <a:t>Results</a:t>
            </a:r>
          </a:p>
        </p:txBody>
      </p:sp>
      <p:pic>
        <p:nvPicPr>
          <p:cNvPr id="4" name="نگهدارنده مکان محتوا 3" descr="یک تصویر شامل متن, خط&#10;&#10;محتوای تولید شده توسط هوش مصنوعی ممکن است نادرست باشد.">
            <a:extLst>
              <a:ext uri="{FF2B5EF4-FFF2-40B4-BE49-F238E27FC236}">
                <a16:creationId xmlns:a16="http://schemas.microsoft.com/office/drawing/2014/main" id="{6CAA72EA-1963-B36C-5440-D08D07E57E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8224" y="1895856"/>
            <a:ext cx="6522365" cy="4348243"/>
          </a:xfrm>
          <a:prstGeom prst="rect">
            <a:avLst/>
          </a:prstGeom>
        </p:spPr>
      </p:pic>
      <p:pic>
        <p:nvPicPr>
          <p:cNvPr id="5" name="تصویر 4" descr="یک تصویر شامل متن, خط, تصویر صفحه, سفید&#10;&#10;محتوای تولید شده توسط هوش مصنوعی ممکن است نادرست باشد.">
            <a:extLst>
              <a:ext uri="{FF2B5EF4-FFF2-40B4-BE49-F238E27FC236}">
                <a16:creationId xmlns:a16="http://schemas.microsoft.com/office/drawing/2014/main" id="{808A9ADD-8645-3584-2DE3-2953A28AF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442" y="591503"/>
            <a:ext cx="3495675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1419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300B1B-B85E-D514-C6B4-30126EBBC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9F9C007-0D35-3681-697A-24E1673AA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V="1">
            <a:off x="-23526" y="-55243"/>
            <a:ext cx="6407229" cy="3479258"/>
          </a:xfrm>
          <a:custGeom>
            <a:avLst/>
            <a:gdLst>
              <a:gd name="connsiteX0" fmla="*/ 53408 w 6407229"/>
              <a:gd name="connsiteY0" fmla="*/ 3479258 h 3479258"/>
              <a:gd name="connsiteX1" fmla="*/ 6407229 w 6407229"/>
              <a:gd name="connsiteY1" fmla="*/ 3368352 h 3479258"/>
              <a:gd name="connsiteX2" fmla="*/ 2513111 w 6407229"/>
              <a:gd name="connsiteY2" fmla="*/ 401274 h 3479258"/>
              <a:gd name="connsiteX3" fmla="*/ 2468202 w 6407229"/>
              <a:gd name="connsiteY3" fmla="*/ 369022 h 3479258"/>
              <a:gd name="connsiteX4" fmla="*/ 1321050 w 6407229"/>
              <a:gd name="connsiteY4" fmla="*/ 613 h 3479258"/>
              <a:gd name="connsiteX5" fmla="*/ 1196752 w 6407229"/>
              <a:gd name="connsiteY5" fmla="*/ 1245 h 3479258"/>
              <a:gd name="connsiteX6" fmla="*/ 56027 w 6407229"/>
              <a:gd name="connsiteY6" fmla="*/ 376720 h 3479258"/>
              <a:gd name="connsiteX7" fmla="*/ 0 w 6407229"/>
              <a:gd name="connsiteY7" fmla="*/ 419528 h 3479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07229" h="3479258">
                <a:moveTo>
                  <a:pt x="53408" y="3479258"/>
                </a:moveTo>
                <a:lnTo>
                  <a:pt x="6407229" y="3368352"/>
                </a:lnTo>
                <a:lnTo>
                  <a:pt x="2513111" y="401274"/>
                </a:lnTo>
                <a:lnTo>
                  <a:pt x="2468202" y="369022"/>
                </a:lnTo>
                <a:cubicBezTo>
                  <a:pt x="2117855" y="130665"/>
                  <a:pt x="1719063" y="10130"/>
                  <a:pt x="1321050" y="613"/>
                </a:cubicBezTo>
                <a:cubicBezTo>
                  <a:pt x="1279590" y="-379"/>
                  <a:pt x="1238139" y="-165"/>
                  <a:pt x="1196752" y="1245"/>
                </a:cubicBezTo>
                <a:cubicBezTo>
                  <a:pt x="793227" y="14995"/>
                  <a:pt x="395796" y="142529"/>
                  <a:pt x="56027" y="376720"/>
                </a:cubicBezTo>
                <a:lnTo>
                  <a:pt x="0" y="419528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A89852AE-65A1-9729-0A03-69078A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442904"/>
            <a:ext cx="3354198" cy="3037701"/>
          </a:xfrm>
        </p:spPr>
        <p:txBody>
          <a:bodyPr anchor="t">
            <a:normAutofit/>
          </a:bodyPr>
          <a:lstStyle/>
          <a:p>
            <a:pPr algn="r"/>
            <a:r>
              <a:rPr lang="fa-IR" sz="2700" b="0" err="1">
                <a:ea typeface="+mj-lt"/>
                <a:cs typeface="+mj-lt"/>
              </a:rPr>
              <a:t>Acknowledgement</a:t>
            </a:r>
            <a:endParaRPr lang="fa-IR" sz="2700" err="1"/>
          </a:p>
        </p:txBody>
      </p:sp>
      <p:sp>
        <p:nvSpPr>
          <p:cNvPr id="3" name="نگهدارنده مکان محتوا 2">
            <a:extLst>
              <a:ext uri="{FF2B5EF4-FFF2-40B4-BE49-F238E27FC236}">
                <a16:creationId xmlns:a16="http://schemas.microsoft.com/office/drawing/2014/main" id="{2FA30E6B-EA01-3747-1D21-416BA3978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2845" y="1451294"/>
            <a:ext cx="5896155" cy="42637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a-IR" dirty="0" err="1"/>
              <a:t>My</a:t>
            </a:r>
            <a:r>
              <a:rPr lang="fa-IR" dirty="0"/>
              <a:t> </a:t>
            </a:r>
            <a:r>
              <a:rPr lang="fa-IR" dirty="0" err="1"/>
              <a:t>father</a:t>
            </a:r>
            <a:r>
              <a:rPr lang="fa-IR" dirty="0"/>
              <a:t> </a:t>
            </a:r>
            <a:r>
              <a:rPr lang="fa-IR" dirty="0" err="1"/>
              <a:t>and</a:t>
            </a:r>
            <a:r>
              <a:rPr lang="fa-IR" dirty="0"/>
              <a:t> </a:t>
            </a:r>
            <a:r>
              <a:rPr lang="fa-IR" dirty="0" err="1"/>
              <a:t>my</a:t>
            </a:r>
            <a:r>
              <a:rPr lang="fa-IR" dirty="0"/>
              <a:t> </a:t>
            </a:r>
            <a:r>
              <a:rPr lang="fa-IR" dirty="0" err="1"/>
              <a:t>family</a:t>
            </a:r>
            <a:endParaRPr lang="fa-IR" dirty="0"/>
          </a:p>
          <a:p>
            <a:r>
              <a:rPr lang="fa-IR" dirty="0" err="1"/>
              <a:t>Dr</a:t>
            </a:r>
            <a:r>
              <a:rPr lang="fa-IR" dirty="0"/>
              <a:t>. </a:t>
            </a:r>
            <a:r>
              <a:rPr lang="fa-IR" dirty="0" err="1"/>
              <a:t>Baradaran</a:t>
            </a:r>
            <a:endParaRPr lang="fa-IR" dirty="0"/>
          </a:p>
          <a:p>
            <a:r>
              <a:rPr lang="fa-IR" dirty="0" err="1"/>
              <a:t>Sadra</a:t>
            </a:r>
            <a:r>
              <a:rPr lang="fa-IR" dirty="0"/>
              <a:t> </a:t>
            </a:r>
            <a:r>
              <a:rPr lang="fa-IR" dirty="0" err="1"/>
              <a:t>Hakim</a:t>
            </a:r>
            <a:endParaRPr lang="fa-IR" dirty="0"/>
          </a:p>
          <a:p>
            <a:r>
              <a:rPr lang="fa-IR" dirty="0" err="1"/>
              <a:t>Pedram</a:t>
            </a:r>
            <a:r>
              <a:rPr lang="fa-IR" dirty="0"/>
              <a:t> </a:t>
            </a:r>
            <a:r>
              <a:rPr lang="fa-IR" dirty="0" err="1"/>
              <a:t>Rostami</a:t>
            </a:r>
            <a:endParaRPr lang="fa-IR" dirty="0"/>
          </a:p>
          <a:p>
            <a:r>
              <a:rPr lang="fa-IR" dirty="0" err="1"/>
              <a:t>Zahra</a:t>
            </a:r>
            <a:r>
              <a:rPr lang="fa-IR" dirty="0"/>
              <a:t> </a:t>
            </a:r>
            <a:r>
              <a:rPr lang="fa-IR" dirty="0" err="1"/>
              <a:t>Kazemi</a:t>
            </a:r>
            <a:endParaRPr lang="fa-IR" dirty="0"/>
          </a:p>
          <a:p>
            <a:r>
              <a:rPr lang="fa-IR" dirty="0" err="1"/>
              <a:t>Milad</a:t>
            </a:r>
            <a:r>
              <a:rPr lang="fa-IR" dirty="0"/>
              <a:t> </a:t>
            </a:r>
            <a:r>
              <a:rPr lang="fa-IR" dirty="0" err="1"/>
              <a:t>Tavakoli</a:t>
            </a:r>
            <a:endParaRPr lang="fa-IR" dirty="0"/>
          </a:p>
          <a:p>
            <a:r>
              <a:rPr lang="fa-IR" err="1"/>
              <a:t>Amirhossein</a:t>
            </a:r>
            <a:r>
              <a:rPr lang="fa-IR" dirty="0"/>
              <a:t> </a:t>
            </a:r>
            <a:r>
              <a:rPr lang="fa-IR" err="1"/>
              <a:t>Poursina</a:t>
            </a:r>
            <a:endParaRPr lang="fa-IR" dirty="0"/>
          </a:p>
          <a:p>
            <a:r>
              <a:rPr lang="fa-IR" dirty="0" err="1"/>
              <a:t>All</a:t>
            </a:r>
            <a:r>
              <a:rPr lang="fa-IR" dirty="0"/>
              <a:t> </a:t>
            </a:r>
            <a:r>
              <a:rPr lang="fa-IR" dirty="0" err="1"/>
              <a:t>audience</a:t>
            </a:r>
            <a:r>
              <a:rPr lang="fa-IR" dirty="0"/>
              <a:t> </a:t>
            </a:r>
            <a:r>
              <a:rPr lang="fa-IR" dirty="0" err="1"/>
              <a:t>in</a:t>
            </a:r>
            <a:r>
              <a:rPr lang="fa-IR" dirty="0"/>
              <a:t> </a:t>
            </a:r>
            <a:r>
              <a:rPr lang="fa-IR" dirty="0" err="1"/>
              <a:t>the</a:t>
            </a:r>
            <a:r>
              <a:rPr lang="fa-IR" dirty="0"/>
              <a:t> </a:t>
            </a:r>
            <a:r>
              <a:rPr lang="fa-IR" dirty="0" err="1"/>
              <a:t>presentation</a:t>
            </a:r>
            <a:r>
              <a:rPr lang="fa-IR" dirty="0"/>
              <a:t> </a:t>
            </a:r>
            <a:r>
              <a:rPr lang="fa-IR" dirty="0" err="1"/>
              <a:t>session</a:t>
            </a:r>
          </a:p>
        </p:txBody>
      </p:sp>
    </p:spTree>
    <p:extLst>
      <p:ext uri="{BB962C8B-B14F-4D97-AF65-F5344CB8AC3E}">
        <p14:creationId xmlns:p14="http://schemas.microsoft.com/office/powerpoint/2010/main" val="19795825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4659AD3-6077-1082-130D-2C0B412DF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4841"/>
            <a:ext cx="8886884" cy="801269"/>
          </a:xfrm>
        </p:spPr>
        <p:txBody>
          <a:bodyPr/>
          <a:lstStyle/>
          <a:p>
            <a:r>
              <a:rPr lang="fa-IR" dirty="0" err="1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736358448"/>
      </p:ext>
    </p:extLst>
  </p:cSld>
  <p:clrMapOvr>
    <a:masterClrMapping/>
  </p:clrMapOvr>
</p:sld>
</file>

<file path=ppt/theme/theme1.xml><?xml version="1.0" encoding="utf-8"?>
<a:theme xmlns:a="http://schemas.openxmlformats.org/drawingml/2006/main" name="SwellVTI">
  <a:themeElements>
    <a:clrScheme name="Swell">
      <a:dk1>
        <a:sysClr val="windowText" lastClr="000000"/>
      </a:dk1>
      <a:lt1>
        <a:sysClr val="window" lastClr="FFFFFF"/>
      </a:lt1>
      <a:dk2>
        <a:srgbClr val="233B47"/>
      </a:dk2>
      <a:lt2>
        <a:srgbClr val="FEEFD9"/>
      </a:lt2>
      <a:accent1>
        <a:srgbClr val="16AEA7"/>
      </a:accent1>
      <a:accent2>
        <a:srgbClr val="618F88"/>
      </a:accent2>
      <a:accent3>
        <a:srgbClr val="7A9973"/>
      </a:accent3>
      <a:accent4>
        <a:srgbClr val="8AAE8E"/>
      </a:accent4>
      <a:accent5>
        <a:srgbClr val="EB8F60"/>
      </a:accent5>
      <a:accent6>
        <a:srgbClr val="E57A6F"/>
      </a:accent6>
      <a:hlink>
        <a:srgbClr val="13968F"/>
      </a:hlink>
      <a:folHlink>
        <a:srgbClr val="E5615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ellVTI" id="{8361A04D-931A-43DC-973B-1B0B1DD5DECC}" vid="{6DDB23E8-D18E-4BDA-98D6-324466149EBD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  <wetp:taskpane dockstate="right" visibility="1" width="350" row="0">
    <wetp:webextensionref xmlns:r="http://schemas.openxmlformats.org/officeDocument/2006/relationships" r:id="rId2"/>
  </wetp:taskpane>
  <wetp:taskpane dockstate="right" visibility="1" width="350" row="0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C35016AD-14B7-4CF0-BCAE-EBC0813E1DC8}">
  <we:reference id="wa200005566" version="1.0.0.0" store="en-US" storeType="omex"/>
  <we:alternateReferences>
    <we:reference id="wa200005566" version="1.0.0.0" store="omex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04DC9E2A-D40E-47C1-80C4-0CEC8533DE5A}">
  <we:reference id="wa200006038" version="1.0.0.2" store="en-US" storeType="omex"/>
  <we:alternateReferences>
    <we:reference id="wa200006038" version="1.0.0.2" store="omex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ADDC2519-1E01-450A-BECE-2661D5BFF395}">
  <we:reference id="wa200005669" version="2.0.0.0" store="en-US" storeType="omex"/>
  <we:alternateReferences>
    <we:reference id="wa200005669" version="2.0.0.0" store="omex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صفحه گسترده</PresentationFormat>
  <Slides>20</Slides>
  <Notes>0</Notes>
  <HiddenSlides>0</HiddenSlides>
  <ScaleCrop>false</ScaleCrop>
  <HeadingPairs>
    <vt:vector size="4" baseType="variant">
      <vt:variant>
        <vt:lpstr>طرح زمینه</vt:lpstr>
      </vt:variant>
      <vt:variant>
        <vt:i4>1</vt:i4>
      </vt:variant>
      <vt:variant>
        <vt:lpstr>عنوان های اسلاید</vt:lpstr>
      </vt:variant>
      <vt:variant>
        <vt:i4>20</vt:i4>
      </vt:variant>
    </vt:vector>
  </HeadingPairs>
  <TitlesOfParts>
    <vt:vector size="21" baseType="lpstr">
      <vt:lpstr>SwellVTI</vt:lpstr>
      <vt:lpstr>Developing a medical language model based on reasoning in Persian language</vt:lpstr>
      <vt:lpstr>Summary</vt:lpstr>
      <vt:lpstr>Motivation</vt:lpstr>
      <vt:lpstr>Problem Statement</vt:lpstr>
      <vt:lpstr>Phase 1</vt:lpstr>
      <vt:lpstr>Baseline Model</vt:lpstr>
      <vt:lpstr>Collecting Data</vt:lpstr>
      <vt:lpstr>Collected data summary</vt:lpstr>
      <vt:lpstr>Training</vt:lpstr>
      <vt:lpstr>hyperparameters</vt:lpstr>
      <vt:lpstr>Results</vt:lpstr>
      <vt:lpstr>Phase 2</vt:lpstr>
      <vt:lpstr>Reasoning in language models</vt:lpstr>
      <vt:lpstr>Enhacing reasoning in language models</vt:lpstr>
      <vt:lpstr>Proposed methods</vt:lpstr>
      <vt:lpstr>Advantages</vt:lpstr>
      <vt:lpstr>Result</vt:lpstr>
      <vt:lpstr>Results</vt:lpstr>
      <vt:lpstr>Acknowledgement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523</cp:revision>
  <dcterms:created xsi:type="dcterms:W3CDTF">2026-01-31T01:25:41Z</dcterms:created>
  <dcterms:modified xsi:type="dcterms:W3CDTF">2026-02-09T16:56:37Z</dcterms:modified>
</cp:coreProperties>
</file>